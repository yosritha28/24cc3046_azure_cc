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26317A"/>
          </a:solidFill>
          <a:ln/>
        </p:spPr>
      </p:sp>
      <p:sp>
        <p:nvSpPr>
          <p:cNvPr id="3" name="Shape 1"/>
          <p:cNvSpPr/>
          <p:nvPr/>
        </p:nvSpPr>
        <p:spPr>
          <a:xfrm>
            <a:off x="10607040" y="-365760"/>
            <a:ext cx="2194560" cy="2194560"/>
          </a:xfrm>
          <a:prstGeom prst="ellipse">
            <a:avLst/>
          </a:prstGeom>
          <a:solidFill>
            <a:srgbClr val="324089"/>
          </a:solidFill>
          <a:ln/>
        </p:spPr>
      </p:sp>
      <p:sp>
        <p:nvSpPr>
          <p:cNvPr id="4" name="Text 2"/>
          <p:cNvSpPr txBox="1"/>
          <p:nvPr/>
        </p:nvSpPr>
        <p:spPr>
          <a:xfrm>
            <a:off x="731520" y="640080"/>
            <a:ext cx="8229600" cy="411480"/>
          </a:xfrm>
          <a:prstGeom prst="rect">
            <a:avLst/>
          </a:prstGeom>
          <a:noFill/>
          <a:ln/>
        </p:spPr>
        <p:txBody>
          <a:bodyPr wrap="square" lIns="0" tIns="0" rIns="0" bIns="0" rtlCol="0" anchor="ctr"/>
          <a:lstStyle/>
          <a:p>
            <a:pPr indent="0" marL="0">
              <a:buNone/>
            </a:pPr>
            <a:r>
              <a:rPr lang="en-US" sz="1400" spc="200" kern="0" dirty="0">
                <a:solidFill>
                  <a:srgbClr val="CADCFC"/>
                </a:solidFill>
                <a:latin typeface="Calibri" pitchFamily="34" charset="0"/>
                <a:ea typeface="Calibri" pitchFamily="34" charset="-122"/>
                <a:cs typeface="Calibri" pitchFamily="34" charset="-120"/>
              </a:rPr>
              <a:t>Continuous Evaluation Project — Review 1</a:t>
            </a:r>
            <a:endParaRPr lang="en-US" sz="1400" dirty="0"/>
          </a:p>
        </p:txBody>
      </p:sp>
      <p:sp>
        <p:nvSpPr>
          <p:cNvPr id="5" name="Text 3"/>
          <p:cNvSpPr txBox="1"/>
          <p:nvPr/>
        </p:nvSpPr>
        <p:spPr>
          <a:xfrm>
            <a:off x="731520" y="1188720"/>
            <a:ext cx="9875520" cy="173736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Azure Storage Static Website</a:t>
            </a:r>
            <a:endParaRPr lang="en-US" sz="3800" dirty="0"/>
          </a:p>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Hosting with Azure Front Door</a:t>
            </a:r>
            <a:endParaRPr lang="en-US" sz="3800" dirty="0"/>
          </a:p>
        </p:txBody>
      </p:sp>
      <p:sp>
        <p:nvSpPr>
          <p:cNvPr id="6" name="Text 4"/>
          <p:cNvSpPr txBox="1"/>
          <p:nvPr/>
        </p:nvSpPr>
        <p:spPr>
          <a:xfrm>
            <a:off x="731520" y="2880360"/>
            <a:ext cx="86868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Secure, fast, and highly available static web hosting on Microsoft Azure</a:t>
            </a:r>
            <a:endParaRPr lang="en-US" sz="1500" dirty="0"/>
          </a:p>
        </p:txBody>
      </p:sp>
      <p:sp>
        <p:nvSpPr>
          <p:cNvPr id="7" name="Text 5"/>
          <p:cNvSpPr txBox="1"/>
          <p:nvPr/>
        </p:nvSpPr>
        <p:spPr>
          <a:xfrm>
            <a:off x="731520" y="3611880"/>
            <a:ext cx="2743200" cy="36576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Team</a:t>
            </a:r>
            <a:endParaRPr lang="en-US" sz="1500" dirty="0"/>
          </a:p>
        </p:txBody>
      </p:sp>
      <p:sp>
        <p:nvSpPr>
          <p:cNvPr id="8" name="Shape 6"/>
          <p:cNvSpPr/>
          <p:nvPr/>
        </p:nvSpPr>
        <p:spPr>
          <a:xfrm>
            <a:off x="731520" y="4023360"/>
            <a:ext cx="310896" cy="310896"/>
          </a:xfrm>
          <a:prstGeom prst="ellipse">
            <a:avLst/>
          </a:prstGeom>
          <a:solidFill>
            <a:srgbClr val="CADCFC"/>
          </a:solidFill>
          <a:ln/>
        </p:spPr>
      </p:sp>
      <p:sp>
        <p:nvSpPr>
          <p:cNvPr id="9" name="Text 7"/>
          <p:cNvSpPr txBox="1"/>
          <p:nvPr/>
        </p:nvSpPr>
        <p:spPr>
          <a:xfrm>
            <a:off x="731520" y="4023360"/>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88720" y="4023360"/>
            <a:ext cx="2743200" cy="31089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2410080028</a:t>
            </a:r>
            <a:endParaRPr lang="en-US" sz="1400" dirty="0"/>
          </a:p>
        </p:txBody>
      </p:sp>
      <p:sp>
        <p:nvSpPr>
          <p:cNvPr id="11" name="Shape 9"/>
          <p:cNvSpPr/>
          <p:nvPr/>
        </p:nvSpPr>
        <p:spPr>
          <a:xfrm>
            <a:off x="731520" y="4462272"/>
            <a:ext cx="310896" cy="310896"/>
          </a:xfrm>
          <a:prstGeom prst="ellipse">
            <a:avLst/>
          </a:prstGeom>
          <a:solidFill>
            <a:srgbClr val="CADCFC"/>
          </a:solidFill>
          <a:ln/>
        </p:spPr>
      </p:sp>
      <p:sp>
        <p:nvSpPr>
          <p:cNvPr id="12" name="Text 10"/>
          <p:cNvSpPr txBox="1"/>
          <p:nvPr/>
        </p:nvSpPr>
        <p:spPr>
          <a:xfrm>
            <a:off x="731520" y="4462272"/>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188720" y="4462272"/>
            <a:ext cx="2743200" cy="31089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2400080190</a:t>
            </a:r>
            <a:endParaRPr lang="en-US" sz="1400" dirty="0"/>
          </a:p>
        </p:txBody>
      </p:sp>
      <p:sp>
        <p:nvSpPr>
          <p:cNvPr id="14" name="Shape 12"/>
          <p:cNvSpPr/>
          <p:nvPr/>
        </p:nvSpPr>
        <p:spPr>
          <a:xfrm>
            <a:off x="731520" y="4901184"/>
            <a:ext cx="310896" cy="310896"/>
          </a:xfrm>
          <a:prstGeom prst="ellipse">
            <a:avLst/>
          </a:prstGeom>
          <a:solidFill>
            <a:srgbClr val="CADCFC"/>
          </a:solidFill>
          <a:ln/>
        </p:spPr>
      </p:sp>
      <p:sp>
        <p:nvSpPr>
          <p:cNvPr id="15" name="Text 13"/>
          <p:cNvSpPr txBox="1"/>
          <p:nvPr/>
        </p:nvSpPr>
        <p:spPr>
          <a:xfrm>
            <a:off x="731520" y="4901184"/>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188720" y="4901184"/>
            <a:ext cx="2743200" cy="31089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2400080203</a:t>
            </a:r>
            <a:endParaRPr lang="en-US" sz="1400" dirty="0"/>
          </a:p>
        </p:txBody>
      </p:sp>
      <p:sp>
        <p:nvSpPr>
          <p:cNvPr id="17" name="Shape 15"/>
          <p:cNvSpPr/>
          <p:nvPr/>
        </p:nvSpPr>
        <p:spPr>
          <a:xfrm>
            <a:off x="731520" y="5340096"/>
            <a:ext cx="310896" cy="310896"/>
          </a:xfrm>
          <a:prstGeom prst="ellipse">
            <a:avLst/>
          </a:prstGeom>
          <a:solidFill>
            <a:srgbClr val="CADCFC"/>
          </a:solidFill>
          <a:ln/>
        </p:spPr>
      </p:sp>
      <p:sp>
        <p:nvSpPr>
          <p:cNvPr id="18" name="Text 16"/>
          <p:cNvSpPr txBox="1"/>
          <p:nvPr/>
        </p:nvSpPr>
        <p:spPr>
          <a:xfrm>
            <a:off x="731520" y="5340096"/>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188720" y="5340096"/>
            <a:ext cx="2743200" cy="31089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2400080267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Text 2"/>
          <p:cNvSpPr txBox="1"/>
          <p:nvPr/>
        </p:nvSpPr>
        <p:spPr>
          <a:xfrm>
            <a:off x="548640" y="1280160"/>
            <a:ext cx="10241280" cy="146304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Hosting even a simple website — a portfolio, a documentation site, or a landing page — traditionally means provisioning, patching, and scaling web servers. This adds cost, operational overhead, and complexity that most static sites don't need. It also doesn't guarantee fast delivery to users in different regions or built-in protections like HTTPS.</a:t>
            </a:r>
            <a:endParaRPr lang="en-US" sz="1500" dirty="0"/>
          </a:p>
        </p:txBody>
      </p:sp>
      <p:sp>
        <p:nvSpPr>
          <p:cNvPr id="5" name="Text 3"/>
          <p:cNvSpPr txBox="1"/>
          <p:nvPr/>
        </p:nvSpPr>
        <p:spPr>
          <a:xfrm>
            <a:off x="548640" y="2743200"/>
            <a:ext cx="10241280" cy="118872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We propose a serverless, CDN-backed hosting solution using Azure Storage's static website feature combined with Azure Front Door — delivering content quickly, securely, and reliably without managing a single server.</a:t>
            </a:r>
            <a:endParaRPr lang="en-US" sz="1500" dirty="0"/>
          </a:p>
        </p:txBody>
      </p:sp>
      <p:sp>
        <p:nvSpPr>
          <p:cNvPr id="6" name="Shape 4"/>
          <p:cNvSpPr/>
          <p:nvPr/>
        </p:nvSpPr>
        <p:spPr>
          <a:xfrm>
            <a:off x="548640" y="4206240"/>
            <a:ext cx="2286000" cy="457200"/>
          </a:xfrm>
          <a:prstGeom prst="roundRect">
            <a:avLst>
              <a:gd name="adj" fmla="val 16000"/>
            </a:avLst>
          </a:prstGeom>
          <a:solidFill>
            <a:srgbClr val="F4F6FC"/>
          </a:solidFill>
          <a:ln w="12700">
            <a:solidFill>
              <a:srgbClr val="1E2761"/>
            </a:solidFill>
            <a:prstDash val="solid"/>
          </a:ln>
        </p:spPr>
      </p:sp>
      <p:sp>
        <p:nvSpPr>
          <p:cNvPr id="7" name="Text 5"/>
          <p:cNvSpPr txBox="1"/>
          <p:nvPr/>
        </p:nvSpPr>
        <p:spPr>
          <a:xfrm>
            <a:off x="548640" y="4206240"/>
            <a:ext cx="2286000" cy="457200"/>
          </a:xfrm>
          <a:prstGeom prst="rect">
            <a:avLst/>
          </a:prstGeom>
          <a:noFill/>
          <a:ln/>
        </p:spPr>
        <p:txBody>
          <a:bodyPr wrap="square" lIns="0" tIns="0" rIns="0" bIns="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No servers to manage</a:t>
            </a:r>
            <a:endParaRPr lang="en-US" sz="1200" dirty="0"/>
          </a:p>
        </p:txBody>
      </p:sp>
      <p:sp>
        <p:nvSpPr>
          <p:cNvPr id="8" name="Shape 6"/>
          <p:cNvSpPr/>
          <p:nvPr/>
        </p:nvSpPr>
        <p:spPr>
          <a:xfrm>
            <a:off x="3063240" y="4206240"/>
            <a:ext cx="1737360" cy="457200"/>
          </a:xfrm>
          <a:prstGeom prst="roundRect">
            <a:avLst>
              <a:gd name="adj" fmla="val 16000"/>
            </a:avLst>
          </a:prstGeom>
          <a:solidFill>
            <a:srgbClr val="F4F6FC"/>
          </a:solidFill>
          <a:ln w="12700">
            <a:solidFill>
              <a:srgbClr val="1E2761"/>
            </a:solidFill>
            <a:prstDash val="solid"/>
          </a:ln>
        </p:spPr>
      </p:sp>
      <p:sp>
        <p:nvSpPr>
          <p:cNvPr id="9" name="Text 7"/>
          <p:cNvSpPr txBox="1"/>
          <p:nvPr/>
        </p:nvSpPr>
        <p:spPr>
          <a:xfrm>
            <a:off x="3063240" y="4206240"/>
            <a:ext cx="1737360" cy="457200"/>
          </a:xfrm>
          <a:prstGeom prst="rect">
            <a:avLst/>
          </a:prstGeom>
          <a:noFill/>
          <a:ln/>
        </p:spPr>
        <p:txBody>
          <a:bodyPr wrap="square" lIns="0" tIns="0" rIns="0" bIns="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Global latency</a:t>
            </a:r>
            <a:endParaRPr lang="en-US" sz="1200" dirty="0"/>
          </a:p>
        </p:txBody>
      </p:sp>
      <p:sp>
        <p:nvSpPr>
          <p:cNvPr id="10" name="Shape 8"/>
          <p:cNvSpPr/>
          <p:nvPr/>
        </p:nvSpPr>
        <p:spPr>
          <a:xfrm>
            <a:off x="5029200" y="4206240"/>
            <a:ext cx="1645920" cy="457200"/>
          </a:xfrm>
          <a:prstGeom prst="roundRect">
            <a:avLst>
              <a:gd name="adj" fmla="val 16000"/>
            </a:avLst>
          </a:prstGeom>
          <a:solidFill>
            <a:srgbClr val="F4F6FC"/>
          </a:solidFill>
          <a:ln w="12700">
            <a:solidFill>
              <a:srgbClr val="1E2761"/>
            </a:solidFill>
            <a:prstDash val="solid"/>
          </a:ln>
        </p:spPr>
      </p:sp>
      <p:sp>
        <p:nvSpPr>
          <p:cNvPr id="11" name="Text 9"/>
          <p:cNvSpPr txBox="1"/>
          <p:nvPr/>
        </p:nvSpPr>
        <p:spPr>
          <a:xfrm>
            <a:off x="5029200" y="4206240"/>
            <a:ext cx="1645920" cy="457200"/>
          </a:xfrm>
          <a:prstGeom prst="rect">
            <a:avLst/>
          </a:prstGeom>
          <a:noFill/>
          <a:ln/>
        </p:spPr>
        <p:txBody>
          <a:bodyPr wrap="square" lIns="0" tIns="0" rIns="0" bIns="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Security gaps</a:t>
            </a:r>
            <a:endParaRPr lang="en-US" sz="1200" dirty="0"/>
          </a:p>
        </p:txBody>
      </p:sp>
      <p:sp>
        <p:nvSpPr>
          <p:cNvPr id="12" name="Shape 10"/>
          <p:cNvSpPr/>
          <p:nvPr/>
        </p:nvSpPr>
        <p:spPr>
          <a:xfrm>
            <a:off x="6903720" y="4206240"/>
            <a:ext cx="1554480" cy="457200"/>
          </a:xfrm>
          <a:prstGeom prst="roundRect">
            <a:avLst>
              <a:gd name="adj" fmla="val 16000"/>
            </a:avLst>
          </a:prstGeom>
          <a:solidFill>
            <a:srgbClr val="F4F6FC"/>
          </a:solidFill>
          <a:ln w="12700">
            <a:solidFill>
              <a:srgbClr val="1E2761"/>
            </a:solidFill>
            <a:prstDash val="solid"/>
          </a:ln>
        </p:spPr>
      </p:sp>
      <p:sp>
        <p:nvSpPr>
          <p:cNvPr id="13" name="Text 11"/>
          <p:cNvSpPr txBox="1"/>
          <p:nvPr/>
        </p:nvSpPr>
        <p:spPr>
          <a:xfrm>
            <a:off x="6903720" y="4206240"/>
            <a:ext cx="1554480" cy="457200"/>
          </a:xfrm>
          <a:prstGeom prst="rect">
            <a:avLst/>
          </a:prstGeom>
          <a:noFill/>
          <a:ln/>
        </p:spPr>
        <p:txBody>
          <a:bodyPr wrap="square" lIns="0" tIns="0" rIns="0" bIns="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Scaling cost</a:t>
            </a:r>
            <a:endParaRPr lang="en-US" sz="1200" dirty="0"/>
          </a:p>
        </p:txBody>
      </p:sp>
      <p:sp>
        <p:nvSpPr>
          <p:cNvPr id="14" name="Text 1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15" name="Text 13"/>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Proposed Solution (Overview)</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Text 2"/>
          <p:cNvSpPr txBox="1"/>
          <p:nvPr/>
        </p:nvSpPr>
        <p:spPr>
          <a:xfrm>
            <a:off x="548640" y="1234440"/>
            <a:ext cx="10332720" cy="822960"/>
          </a:xfrm>
          <a:prstGeom prst="rect">
            <a:avLst/>
          </a:prstGeom>
          <a:noFill/>
          <a:ln/>
        </p:spPr>
        <p:txBody>
          <a:bodyPr wrap="square" lIns="0" tIns="0" rIns="0" bIns="0" rtlCol="0" anchor="t"/>
          <a:lstStyle/>
          <a:p>
            <a:pPr indent="0" marL="0">
              <a:buNone/>
            </a:pPr>
            <a:r>
              <a:rPr lang="en-US" sz="1450" dirty="0">
                <a:solidFill>
                  <a:srgbClr val="1E2761"/>
                </a:solidFill>
                <a:latin typeface="Calibri" pitchFamily="34" charset="0"/>
                <a:ea typeface="Calibri" pitchFamily="34" charset="-122"/>
                <a:cs typeface="Calibri" pitchFamily="34" charset="-120"/>
              </a:rPr>
              <a:t>Centralized static hosting via the Azure Storage $web container, fronted by Azure Front Door for global routing, edge caching, HTTPS enforcement, and traffic management.</a:t>
            </a:r>
            <a:endParaRPr lang="en-US" sz="1450" dirty="0"/>
          </a:p>
        </p:txBody>
      </p:sp>
      <p:sp>
        <p:nvSpPr>
          <p:cNvPr id="5" name="Shape 3"/>
          <p:cNvSpPr/>
          <p:nvPr/>
        </p:nvSpPr>
        <p:spPr>
          <a:xfrm>
            <a:off x="548640" y="2286000"/>
            <a:ext cx="3337560" cy="2743200"/>
          </a:xfrm>
          <a:prstGeom prst="roundRect">
            <a:avLst>
              <a:gd name="adj" fmla="val 3333"/>
            </a:avLst>
          </a:prstGeom>
          <a:solidFill>
            <a:srgbClr val="F4F6FC"/>
          </a:solidFill>
          <a:ln/>
        </p:spPr>
      </p:sp>
      <p:sp>
        <p:nvSpPr>
          <p:cNvPr id="6" name="Shape 4"/>
          <p:cNvSpPr/>
          <p:nvPr/>
        </p:nvSpPr>
        <p:spPr>
          <a:xfrm>
            <a:off x="822960" y="2560320"/>
            <a:ext cx="457200" cy="54864"/>
          </a:xfrm>
          <a:prstGeom prst="rect">
            <a:avLst/>
          </a:prstGeom>
          <a:solidFill>
            <a:srgbClr val="1E2761"/>
          </a:solidFill>
          <a:ln/>
        </p:spPr>
      </p:sp>
      <p:sp>
        <p:nvSpPr>
          <p:cNvPr id="7" name="Text 5"/>
          <p:cNvSpPr txBox="1"/>
          <p:nvPr/>
        </p:nvSpPr>
        <p:spPr>
          <a:xfrm>
            <a:off x="822960" y="2697480"/>
            <a:ext cx="27889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Key Capabilities</a:t>
            </a:r>
            <a:endParaRPr lang="en-US" sz="1600" dirty="0"/>
          </a:p>
        </p:txBody>
      </p:sp>
      <p:sp>
        <p:nvSpPr>
          <p:cNvPr id="8" name="Text 6"/>
          <p:cNvSpPr txBox="1"/>
          <p:nvPr/>
        </p:nvSpPr>
        <p:spPr>
          <a:xfrm>
            <a:off x="822960" y="3200400"/>
            <a:ext cx="2788920" cy="1554480"/>
          </a:xfrm>
          <a:prstGeom prst="rect">
            <a:avLst/>
          </a:prstGeom>
          <a:noFill/>
          <a:ln/>
        </p:spPr>
        <p:txBody>
          <a:bodyPr wrap="square" lIns="0" tIns="0" rIns="0" bIns="0" rtlCol="0" anchor="t"/>
          <a:lstStyle/>
          <a:p>
            <a:pPr indent="0" marL="0">
              <a:buNone/>
            </a:pPr>
            <a:r>
              <a:rPr lang="en-US" sz="1250" dirty="0">
                <a:solidFill>
                  <a:srgbClr val="1E2761"/>
                </a:solidFill>
                <a:latin typeface="Calibri" pitchFamily="34" charset="0"/>
                <a:ea typeface="Calibri" pitchFamily="34" charset="-122"/>
                <a:cs typeface="Calibri" pitchFamily="34" charset="-120"/>
              </a:rPr>
              <a:t>Static file hosting, global edge delivery, HTTPS enforcement, custom domain support, caching &amp; compression.</a:t>
            </a:r>
            <a:endParaRPr lang="en-US" sz="1250" dirty="0"/>
          </a:p>
        </p:txBody>
      </p:sp>
      <p:sp>
        <p:nvSpPr>
          <p:cNvPr id="9" name="Shape 7"/>
          <p:cNvSpPr/>
          <p:nvPr/>
        </p:nvSpPr>
        <p:spPr>
          <a:xfrm>
            <a:off x="4206240" y="2286000"/>
            <a:ext cx="3337560" cy="2743200"/>
          </a:xfrm>
          <a:prstGeom prst="roundRect">
            <a:avLst>
              <a:gd name="adj" fmla="val 3333"/>
            </a:avLst>
          </a:prstGeom>
          <a:solidFill>
            <a:srgbClr val="F4F6FC"/>
          </a:solidFill>
          <a:ln/>
        </p:spPr>
      </p:sp>
      <p:sp>
        <p:nvSpPr>
          <p:cNvPr id="10" name="Shape 8"/>
          <p:cNvSpPr/>
          <p:nvPr/>
        </p:nvSpPr>
        <p:spPr>
          <a:xfrm>
            <a:off x="4480560" y="2560320"/>
            <a:ext cx="457200" cy="54864"/>
          </a:xfrm>
          <a:prstGeom prst="rect">
            <a:avLst/>
          </a:prstGeom>
          <a:solidFill>
            <a:srgbClr val="1E2761"/>
          </a:solidFill>
          <a:ln/>
        </p:spPr>
      </p:sp>
      <p:sp>
        <p:nvSpPr>
          <p:cNvPr id="11" name="Text 9"/>
          <p:cNvSpPr txBox="1"/>
          <p:nvPr/>
        </p:nvSpPr>
        <p:spPr>
          <a:xfrm>
            <a:off x="4480560" y="2697480"/>
            <a:ext cx="27889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Architecture</a:t>
            </a:r>
            <a:endParaRPr lang="en-US" sz="1600" dirty="0"/>
          </a:p>
        </p:txBody>
      </p:sp>
      <p:sp>
        <p:nvSpPr>
          <p:cNvPr id="12" name="Text 10"/>
          <p:cNvSpPr txBox="1"/>
          <p:nvPr/>
        </p:nvSpPr>
        <p:spPr>
          <a:xfrm>
            <a:off x="4480560" y="3200400"/>
            <a:ext cx="2788920" cy="1554480"/>
          </a:xfrm>
          <a:prstGeom prst="rect">
            <a:avLst/>
          </a:prstGeom>
          <a:noFill/>
          <a:ln/>
        </p:spPr>
        <p:txBody>
          <a:bodyPr wrap="square" lIns="0" tIns="0" rIns="0" bIns="0" rtlCol="0" anchor="t"/>
          <a:lstStyle/>
          <a:p>
            <a:pPr indent="0" marL="0">
              <a:buNone/>
            </a:pPr>
            <a:r>
              <a:rPr lang="en-US" sz="1250" dirty="0">
                <a:solidFill>
                  <a:srgbClr val="1E2761"/>
                </a:solidFill>
                <a:latin typeface="Calibri" pitchFamily="34" charset="0"/>
                <a:ea typeface="Calibri" pitchFamily="34" charset="-122"/>
                <a:cs typeface="Calibri" pitchFamily="34" charset="-120"/>
              </a:rPr>
              <a:t>Client → Azure Front Door (edge, WAF, routing) → Azure Storage static website endpoint.</a:t>
            </a:r>
            <a:endParaRPr lang="en-US" sz="1250" dirty="0"/>
          </a:p>
        </p:txBody>
      </p:sp>
      <p:sp>
        <p:nvSpPr>
          <p:cNvPr id="13" name="Shape 11"/>
          <p:cNvSpPr/>
          <p:nvPr/>
        </p:nvSpPr>
        <p:spPr>
          <a:xfrm>
            <a:off x="7863840" y="2286000"/>
            <a:ext cx="3337560" cy="2743200"/>
          </a:xfrm>
          <a:prstGeom prst="roundRect">
            <a:avLst>
              <a:gd name="adj" fmla="val 3333"/>
            </a:avLst>
          </a:prstGeom>
          <a:solidFill>
            <a:srgbClr val="F4F6FC"/>
          </a:solidFill>
          <a:ln/>
        </p:spPr>
      </p:sp>
      <p:sp>
        <p:nvSpPr>
          <p:cNvPr id="14" name="Shape 12"/>
          <p:cNvSpPr/>
          <p:nvPr/>
        </p:nvSpPr>
        <p:spPr>
          <a:xfrm>
            <a:off x="8138160" y="2560320"/>
            <a:ext cx="457200" cy="54864"/>
          </a:xfrm>
          <a:prstGeom prst="rect">
            <a:avLst/>
          </a:prstGeom>
          <a:solidFill>
            <a:srgbClr val="1E2761"/>
          </a:solidFill>
          <a:ln/>
        </p:spPr>
      </p:sp>
      <p:sp>
        <p:nvSpPr>
          <p:cNvPr id="15" name="Text 13"/>
          <p:cNvSpPr txBox="1"/>
          <p:nvPr/>
        </p:nvSpPr>
        <p:spPr>
          <a:xfrm>
            <a:off x="8138160" y="2697480"/>
            <a:ext cx="27889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Outcome</a:t>
            </a:r>
            <a:endParaRPr lang="en-US" sz="1600" dirty="0"/>
          </a:p>
        </p:txBody>
      </p:sp>
      <p:sp>
        <p:nvSpPr>
          <p:cNvPr id="16" name="Text 14"/>
          <p:cNvSpPr txBox="1"/>
          <p:nvPr/>
        </p:nvSpPr>
        <p:spPr>
          <a:xfrm>
            <a:off x="8138160" y="3200400"/>
            <a:ext cx="2788920" cy="1554480"/>
          </a:xfrm>
          <a:prstGeom prst="rect">
            <a:avLst/>
          </a:prstGeom>
          <a:noFill/>
          <a:ln/>
        </p:spPr>
        <p:txBody>
          <a:bodyPr wrap="square" lIns="0" tIns="0" rIns="0" bIns="0" rtlCol="0" anchor="t"/>
          <a:lstStyle/>
          <a:p>
            <a:pPr indent="0" marL="0">
              <a:buNone/>
            </a:pPr>
            <a:r>
              <a:rPr lang="en-US" sz="1250" dirty="0">
                <a:solidFill>
                  <a:srgbClr val="1E2761"/>
                </a:solidFill>
                <a:latin typeface="Calibri" pitchFamily="34" charset="0"/>
                <a:ea typeface="Calibri" pitchFamily="34" charset="-122"/>
                <a:cs typeface="Calibri" pitchFamily="34" charset="-120"/>
              </a:rPr>
              <a:t>Fast, secure, reliable delivery with no servers to provision, patch, or scale.</a:t>
            </a:r>
            <a:endParaRPr lang="en-US" sz="1250" dirty="0"/>
          </a:p>
        </p:txBody>
      </p:sp>
      <p:sp>
        <p:nvSpPr>
          <p:cNvPr id="17" name="Text 15"/>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18" name="Text 16"/>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Services Required</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Shape 2"/>
          <p:cNvSpPr/>
          <p:nvPr/>
        </p:nvSpPr>
        <p:spPr>
          <a:xfrm>
            <a:off x="548640" y="1325880"/>
            <a:ext cx="3520440" cy="4206240"/>
          </a:xfrm>
          <a:prstGeom prst="roundRect">
            <a:avLst>
              <a:gd name="adj" fmla="val 2597"/>
            </a:avLst>
          </a:prstGeom>
          <a:solidFill>
            <a:srgbClr val="F4F6FC"/>
          </a:solidFill>
          <a:ln/>
        </p:spPr>
      </p:sp>
      <p:sp>
        <p:nvSpPr>
          <p:cNvPr id="5" name="Shape 3"/>
          <p:cNvSpPr/>
          <p:nvPr/>
        </p:nvSpPr>
        <p:spPr>
          <a:xfrm>
            <a:off x="777240" y="1554480"/>
            <a:ext cx="502920" cy="502920"/>
          </a:xfrm>
          <a:prstGeom prst="ellipse">
            <a:avLst/>
          </a:prstGeom>
          <a:solidFill>
            <a:srgbClr val="1E2761"/>
          </a:solidFill>
          <a:ln/>
        </p:spPr>
      </p:sp>
      <p:sp>
        <p:nvSpPr>
          <p:cNvPr id="6" name="Text 4"/>
          <p:cNvSpPr txBox="1"/>
          <p:nvPr/>
        </p:nvSpPr>
        <p:spPr>
          <a:xfrm>
            <a:off x="77724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17320" y="1554480"/>
            <a:ext cx="2468880" cy="5029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Azure Storage Account</a:t>
            </a:r>
            <a:endParaRPr lang="en-US" sz="1450" dirty="0"/>
          </a:p>
        </p:txBody>
      </p:sp>
      <p:sp>
        <p:nvSpPr>
          <p:cNvPr id="8" name="Text 6"/>
          <p:cNvSpPr txBox="1"/>
          <p:nvPr/>
        </p:nvSpPr>
        <p:spPr>
          <a:xfrm>
            <a:off x="822960" y="2286000"/>
            <a:ext cx="2971800" cy="301752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Hosts the static website files</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Stores HTML, CSS, JS, images</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Enable the Static Website feature</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Uses the $web container for content</a:t>
            </a:r>
            <a:endParaRPr lang="en-US" sz="1250" dirty="0"/>
          </a:p>
        </p:txBody>
      </p:sp>
      <p:sp>
        <p:nvSpPr>
          <p:cNvPr id="9" name="Shape 7"/>
          <p:cNvSpPr/>
          <p:nvPr/>
        </p:nvSpPr>
        <p:spPr>
          <a:xfrm>
            <a:off x="4389120" y="1325880"/>
            <a:ext cx="3520440" cy="4206240"/>
          </a:xfrm>
          <a:prstGeom prst="roundRect">
            <a:avLst>
              <a:gd name="adj" fmla="val 2597"/>
            </a:avLst>
          </a:prstGeom>
          <a:solidFill>
            <a:srgbClr val="F4F6FC"/>
          </a:solidFill>
          <a:ln/>
        </p:spPr>
      </p:sp>
      <p:sp>
        <p:nvSpPr>
          <p:cNvPr id="10" name="Shape 8"/>
          <p:cNvSpPr/>
          <p:nvPr/>
        </p:nvSpPr>
        <p:spPr>
          <a:xfrm>
            <a:off x="4617720" y="1554480"/>
            <a:ext cx="502920" cy="502920"/>
          </a:xfrm>
          <a:prstGeom prst="ellipse">
            <a:avLst/>
          </a:prstGeom>
          <a:solidFill>
            <a:srgbClr val="1E2761"/>
          </a:solidFill>
          <a:ln/>
        </p:spPr>
      </p:sp>
      <p:sp>
        <p:nvSpPr>
          <p:cNvPr id="11" name="Text 9"/>
          <p:cNvSpPr txBox="1"/>
          <p:nvPr/>
        </p:nvSpPr>
        <p:spPr>
          <a:xfrm>
            <a:off x="461772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257800" y="1554480"/>
            <a:ext cx="2468880" cy="5029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Azure Front Door</a:t>
            </a:r>
            <a:endParaRPr lang="en-US" sz="1450" dirty="0"/>
          </a:p>
        </p:txBody>
      </p:sp>
      <p:sp>
        <p:nvSpPr>
          <p:cNvPr id="13" name="Text 11"/>
          <p:cNvSpPr txBox="1"/>
          <p:nvPr/>
        </p:nvSpPr>
        <p:spPr>
          <a:xfrm>
            <a:off x="4663440" y="2286000"/>
            <a:ext cx="2971800" cy="301752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Global entry point for users</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Routes requests to the storage site</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Faster delivery via edge locations</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Supports HTTPS and caching</a:t>
            </a:r>
            <a:endParaRPr lang="en-US" sz="1250" dirty="0"/>
          </a:p>
        </p:txBody>
      </p:sp>
      <p:sp>
        <p:nvSpPr>
          <p:cNvPr id="14" name="Shape 12"/>
          <p:cNvSpPr/>
          <p:nvPr/>
        </p:nvSpPr>
        <p:spPr>
          <a:xfrm>
            <a:off x="8229600" y="1325880"/>
            <a:ext cx="3520440" cy="4206240"/>
          </a:xfrm>
          <a:prstGeom prst="roundRect">
            <a:avLst>
              <a:gd name="adj" fmla="val 2597"/>
            </a:avLst>
          </a:prstGeom>
          <a:solidFill>
            <a:srgbClr val="F4F6FC"/>
          </a:solidFill>
          <a:ln/>
        </p:spPr>
      </p:sp>
      <p:sp>
        <p:nvSpPr>
          <p:cNvPr id="15" name="Shape 13"/>
          <p:cNvSpPr/>
          <p:nvPr/>
        </p:nvSpPr>
        <p:spPr>
          <a:xfrm>
            <a:off x="8458200" y="1554480"/>
            <a:ext cx="502920" cy="502920"/>
          </a:xfrm>
          <a:prstGeom prst="ellipse">
            <a:avLst/>
          </a:prstGeom>
          <a:solidFill>
            <a:srgbClr val="1E2761"/>
          </a:solidFill>
          <a:ln/>
        </p:spPr>
      </p:sp>
      <p:sp>
        <p:nvSpPr>
          <p:cNvPr id="16" name="Text 14"/>
          <p:cNvSpPr txBox="1"/>
          <p:nvPr/>
        </p:nvSpPr>
        <p:spPr>
          <a:xfrm>
            <a:off x="845820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9098280" y="1554480"/>
            <a:ext cx="2468880" cy="5029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Azure Resource Group</a:t>
            </a:r>
            <a:endParaRPr lang="en-US" sz="1450" dirty="0"/>
          </a:p>
        </p:txBody>
      </p:sp>
      <p:sp>
        <p:nvSpPr>
          <p:cNvPr id="18" name="Text 16"/>
          <p:cNvSpPr txBox="1"/>
          <p:nvPr/>
        </p:nvSpPr>
        <p:spPr>
          <a:xfrm>
            <a:off x="8503920" y="2286000"/>
            <a:ext cx="2971800" cy="301752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Logical container for resources</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Groups Storage Account &amp; Front Door</a:t>
            </a:r>
            <a:endParaRPr lang="en-US" sz="1250" dirty="0"/>
          </a:p>
          <a:p>
            <a:pPr marL="177800" indent="-1778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Simplifies management &amp; cleanup</a:t>
            </a:r>
            <a:endParaRPr lang="en-US" sz="1250" dirty="0"/>
          </a:p>
        </p:txBody>
      </p:sp>
      <p:sp>
        <p:nvSpPr>
          <p:cNvPr id="19" name="Text 17"/>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20" name="Text 1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Non-Functional Requirements</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Shape 2"/>
          <p:cNvSpPr/>
          <p:nvPr/>
        </p:nvSpPr>
        <p:spPr>
          <a:xfrm>
            <a:off x="548640" y="1353312"/>
            <a:ext cx="146304" cy="146304"/>
          </a:xfrm>
          <a:prstGeom prst="ellipse">
            <a:avLst/>
          </a:prstGeom>
          <a:solidFill>
            <a:srgbClr val="1E2761"/>
          </a:solidFill>
          <a:ln/>
        </p:spPr>
      </p:sp>
      <p:sp>
        <p:nvSpPr>
          <p:cNvPr id="5" name="Text 3"/>
          <p:cNvSpPr txBox="1"/>
          <p:nvPr/>
        </p:nvSpPr>
        <p:spPr>
          <a:xfrm>
            <a:off x="822960" y="128016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Scalability  —  </a:t>
            </a:r>
            <a:pPr indent="0" marL="0">
              <a:buNone/>
            </a:pPr>
            <a:r>
              <a:rPr lang="en-US" sz="1200" dirty="0">
                <a:solidFill>
                  <a:srgbClr val="1E2761"/>
                </a:solidFill>
                <a:latin typeface="Calibri" pitchFamily="34" charset="0"/>
                <a:ea typeface="Calibri" pitchFamily="34" charset="-122"/>
                <a:cs typeface="Calibri" pitchFamily="34" charset="-120"/>
              </a:rPr>
              <a:t>Front Door and Storage scale automatically with traffic, no capacity planning needed.</a:t>
            </a:r>
            <a:endParaRPr lang="en-US" sz="1200" dirty="0"/>
          </a:p>
        </p:txBody>
      </p:sp>
      <p:sp>
        <p:nvSpPr>
          <p:cNvPr id="6" name="Shape 4"/>
          <p:cNvSpPr/>
          <p:nvPr/>
        </p:nvSpPr>
        <p:spPr>
          <a:xfrm>
            <a:off x="6126480" y="1353312"/>
            <a:ext cx="146304" cy="146304"/>
          </a:xfrm>
          <a:prstGeom prst="ellipse">
            <a:avLst/>
          </a:prstGeom>
          <a:solidFill>
            <a:srgbClr val="1E2761"/>
          </a:solidFill>
          <a:ln/>
        </p:spPr>
      </p:sp>
      <p:sp>
        <p:nvSpPr>
          <p:cNvPr id="7" name="Text 5"/>
          <p:cNvSpPr txBox="1"/>
          <p:nvPr/>
        </p:nvSpPr>
        <p:spPr>
          <a:xfrm>
            <a:off x="6400800" y="128016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Security  —  </a:t>
            </a:r>
            <a:pPr indent="0" marL="0">
              <a:buNone/>
            </a:pPr>
            <a:r>
              <a:rPr lang="en-US" sz="1200" dirty="0">
                <a:solidFill>
                  <a:srgbClr val="1E2761"/>
                </a:solidFill>
                <a:latin typeface="Calibri" pitchFamily="34" charset="0"/>
                <a:ea typeface="Calibri" pitchFamily="34" charset="-122"/>
                <a:cs typeface="Calibri" pitchFamily="34" charset="-120"/>
              </a:rPr>
              <a:t>HTTPS enforced end-to-end; managed TLS certificates; optional WAF policies.</a:t>
            </a:r>
            <a:endParaRPr lang="en-US" sz="1200" dirty="0"/>
          </a:p>
        </p:txBody>
      </p:sp>
      <p:sp>
        <p:nvSpPr>
          <p:cNvPr id="8" name="Shape 6"/>
          <p:cNvSpPr/>
          <p:nvPr/>
        </p:nvSpPr>
        <p:spPr>
          <a:xfrm>
            <a:off x="548640" y="2130552"/>
            <a:ext cx="146304" cy="146304"/>
          </a:xfrm>
          <a:prstGeom prst="ellipse">
            <a:avLst/>
          </a:prstGeom>
          <a:solidFill>
            <a:srgbClr val="1E2761"/>
          </a:solidFill>
          <a:ln/>
        </p:spPr>
      </p:sp>
      <p:sp>
        <p:nvSpPr>
          <p:cNvPr id="9" name="Text 7"/>
          <p:cNvSpPr txBox="1"/>
          <p:nvPr/>
        </p:nvSpPr>
        <p:spPr>
          <a:xfrm>
            <a:off x="822960" y="205740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Availability  —  </a:t>
            </a:r>
            <a:pPr indent="0" marL="0">
              <a:buNone/>
            </a:pPr>
            <a:r>
              <a:rPr lang="en-US" sz="1200" dirty="0">
                <a:solidFill>
                  <a:srgbClr val="1E2761"/>
                </a:solidFill>
                <a:latin typeface="Calibri" pitchFamily="34" charset="0"/>
                <a:ea typeface="Calibri" pitchFamily="34" charset="-122"/>
                <a:cs typeface="Calibri" pitchFamily="34" charset="-120"/>
              </a:rPr>
              <a:t>Storage redundancy plus multi-region edge presence for high uptime.</a:t>
            </a:r>
            <a:endParaRPr lang="en-US" sz="1200" dirty="0"/>
          </a:p>
        </p:txBody>
      </p:sp>
      <p:sp>
        <p:nvSpPr>
          <p:cNvPr id="10" name="Shape 8"/>
          <p:cNvSpPr/>
          <p:nvPr/>
        </p:nvSpPr>
        <p:spPr>
          <a:xfrm>
            <a:off x="6126480" y="2130552"/>
            <a:ext cx="146304" cy="146304"/>
          </a:xfrm>
          <a:prstGeom prst="ellipse">
            <a:avLst/>
          </a:prstGeom>
          <a:solidFill>
            <a:srgbClr val="1E2761"/>
          </a:solidFill>
          <a:ln/>
        </p:spPr>
      </p:sp>
      <p:sp>
        <p:nvSpPr>
          <p:cNvPr id="11" name="Text 9"/>
          <p:cNvSpPr txBox="1"/>
          <p:nvPr/>
        </p:nvSpPr>
        <p:spPr>
          <a:xfrm>
            <a:off x="6400800" y="205740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Performance  —  </a:t>
            </a:r>
            <a:pPr indent="0" marL="0">
              <a:buNone/>
            </a:pPr>
            <a:r>
              <a:rPr lang="en-US" sz="1200" dirty="0">
                <a:solidFill>
                  <a:srgbClr val="1E2761"/>
                </a:solidFill>
                <a:latin typeface="Calibri" pitchFamily="34" charset="0"/>
                <a:ea typeface="Calibri" pitchFamily="34" charset="-122"/>
                <a:cs typeface="Calibri" pitchFamily="34" charset="-120"/>
              </a:rPr>
              <a:t>Edge caching at Front Door PoPs cuts latency for global users.</a:t>
            </a:r>
            <a:endParaRPr lang="en-US" sz="1200" dirty="0"/>
          </a:p>
        </p:txBody>
      </p:sp>
      <p:sp>
        <p:nvSpPr>
          <p:cNvPr id="12" name="Shape 10"/>
          <p:cNvSpPr/>
          <p:nvPr/>
        </p:nvSpPr>
        <p:spPr>
          <a:xfrm>
            <a:off x="548640" y="2907792"/>
            <a:ext cx="146304" cy="146304"/>
          </a:xfrm>
          <a:prstGeom prst="ellipse">
            <a:avLst/>
          </a:prstGeom>
          <a:solidFill>
            <a:srgbClr val="1E2761"/>
          </a:solidFill>
          <a:ln/>
        </p:spPr>
      </p:sp>
      <p:sp>
        <p:nvSpPr>
          <p:cNvPr id="13" name="Text 11"/>
          <p:cNvSpPr txBox="1"/>
          <p:nvPr/>
        </p:nvSpPr>
        <p:spPr>
          <a:xfrm>
            <a:off x="822960" y="283464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Reliability  —  </a:t>
            </a:r>
            <a:pPr indent="0" marL="0">
              <a:buNone/>
            </a:pPr>
            <a:r>
              <a:rPr lang="en-US" sz="1200" dirty="0">
                <a:solidFill>
                  <a:srgbClr val="1E2761"/>
                </a:solidFill>
                <a:latin typeface="Calibri" pitchFamily="34" charset="0"/>
                <a:ea typeface="Calibri" pitchFamily="34" charset="-122"/>
                <a:cs typeface="Calibri" pitchFamily="34" charset="-120"/>
              </a:rPr>
              <a:t>Static content served directly from durable blob storage.</a:t>
            </a:r>
            <a:endParaRPr lang="en-US" sz="1200" dirty="0"/>
          </a:p>
        </p:txBody>
      </p:sp>
      <p:sp>
        <p:nvSpPr>
          <p:cNvPr id="14" name="Shape 12"/>
          <p:cNvSpPr/>
          <p:nvPr/>
        </p:nvSpPr>
        <p:spPr>
          <a:xfrm>
            <a:off x="6126480" y="2907792"/>
            <a:ext cx="146304" cy="146304"/>
          </a:xfrm>
          <a:prstGeom prst="ellipse">
            <a:avLst/>
          </a:prstGeom>
          <a:solidFill>
            <a:srgbClr val="1E2761"/>
          </a:solidFill>
          <a:ln/>
        </p:spPr>
      </p:sp>
      <p:sp>
        <p:nvSpPr>
          <p:cNvPr id="15" name="Text 13"/>
          <p:cNvSpPr txBox="1"/>
          <p:nvPr/>
        </p:nvSpPr>
        <p:spPr>
          <a:xfrm>
            <a:off x="6400800" y="283464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Maintainability  —  </a:t>
            </a:r>
            <a:pPr indent="0" marL="0">
              <a:buNone/>
            </a:pPr>
            <a:r>
              <a:rPr lang="en-US" sz="1200" dirty="0">
                <a:solidFill>
                  <a:srgbClr val="1E2761"/>
                </a:solidFill>
                <a:latin typeface="Calibri" pitchFamily="34" charset="0"/>
                <a:ea typeface="Calibri" pitchFamily="34" charset="-122"/>
                <a:cs typeface="Calibri" pitchFamily="34" charset="-120"/>
              </a:rPr>
              <a:t>No servers to patch; simple redeploy of static assets.</a:t>
            </a:r>
            <a:endParaRPr lang="en-US" sz="1200" dirty="0"/>
          </a:p>
        </p:txBody>
      </p:sp>
      <p:sp>
        <p:nvSpPr>
          <p:cNvPr id="16" name="Shape 14"/>
          <p:cNvSpPr/>
          <p:nvPr/>
        </p:nvSpPr>
        <p:spPr>
          <a:xfrm>
            <a:off x="548640" y="3685032"/>
            <a:ext cx="146304" cy="146304"/>
          </a:xfrm>
          <a:prstGeom prst="ellipse">
            <a:avLst/>
          </a:prstGeom>
          <a:solidFill>
            <a:srgbClr val="1E2761"/>
          </a:solidFill>
          <a:ln/>
        </p:spPr>
      </p:sp>
      <p:sp>
        <p:nvSpPr>
          <p:cNvPr id="17" name="Text 15"/>
          <p:cNvSpPr txBox="1"/>
          <p:nvPr/>
        </p:nvSpPr>
        <p:spPr>
          <a:xfrm>
            <a:off x="822960" y="361188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Cost-Effectiveness  —  </a:t>
            </a:r>
            <a:pPr indent="0" marL="0">
              <a:buNone/>
            </a:pPr>
            <a:r>
              <a:rPr lang="en-US" sz="1200" dirty="0">
                <a:solidFill>
                  <a:srgbClr val="1E2761"/>
                </a:solidFill>
                <a:latin typeface="Calibri" pitchFamily="34" charset="0"/>
                <a:ea typeface="Calibri" pitchFamily="34" charset="-122"/>
                <a:cs typeface="Calibri" pitchFamily="34" charset="-120"/>
              </a:rPr>
              <a:t>Pay only for storage and data transfer — no compute costs.</a:t>
            </a:r>
            <a:endParaRPr lang="en-US" sz="1200" dirty="0"/>
          </a:p>
        </p:txBody>
      </p:sp>
      <p:sp>
        <p:nvSpPr>
          <p:cNvPr id="18" name="Shape 16"/>
          <p:cNvSpPr/>
          <p:nvPr/>
        </p:nvSpPr>
        <p:spPr>
          <a:xfrm>
            <a:off x="6126480" y="3685032"/>
            <a:ext cx="146304" cy="146304"/>
          </a:xfrm>
          <a:prstGeom prst="ellipse">
            <a:avLst/>
          </a:prstGeom>
          <a:solidFill>
            <a:srgbClr val="1E2761"/>
          </a:solidFill>
          <a:ln/>
        </p:spPr>
      </p:sp>
      <p:sp>
        <p:nvSpPr>
          <p:cNvPr id="19" name="Text 17"/>
          <p:cNvSpPr txBox="1"/>
          <p:nvPr/>
        </p:nvSpPr>
        <p:spPr>
          <a:xfrm>
            <a:off x="6400800" y="3611880"/>
            <a:ext cx="4846320" cy="6858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Observability  —  </a:t>
            </a:r>
            <a:pPr indent="0" marL="0">
              <a:buNone/>
            </a:pPr>
            <a:r>
              <a:rPr lang="en-US" sz="1200" dirty="0">
                <a:solidFill>
                  <a:srgbClr val="1E2761"/>
                </a:solidFill>
                <a:latin typeface="Calibri" pitchFamily="34" charset="0"/>
                <a:ea typeface="Calibri" pitchFamily="34" charset="-122"/>
                <a:cs typeface="Calibri" pitchFamily="34" charset="-120"/>
              </a:rPr>
              <a:t>Front Door metrics and Storage logs for monitoring traffic and errors.</a:t>
            </a:r>
            <a:endParaRPr lang="en-US" sz="1200" dirty="0"/>
          </a:p>
        </p:txBody>
      </p:sp>
      <p:sp>
        <p:nvSpPr>
          <p:cNvPr id="20" name="Text 18"/>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21" name="Text 19"/>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C"/>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Website Request Flow</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Shape 2"/>
          <p:cNvSpPr/>
          <p:nvPr/>
        </p:nvSpPr>
        <p:spPr>
          <a:xfrm>
            <a:off x="548640" y="2194560"/>
            <a:ext cx="2331720" cy="1920240"/>
          </a:xfrm>
          <a:prstGeom prst="roundRect">
            <a:avLst>
              <a:gd name="adj" fmla="val 5714"/>
            </a:avLst>
          </a:prstGeom>
          <a:solidFill>
            <a:srgbClr val="FFFFFF"/>
          </a:solidFill>
          <a:ln w="19050">
            <a:solidFill>
              <a:srgbClr val="1E2761"/>
            </a:solidFill>
            <a:prstDash val="solid"/>
          </a:ln>
          <a:effectLst>
            <a:outerShdw sx="100000" sy="100000" kx="0" ky="0" algn="bl" rotWithShape="0" blurRad="63500" dist="25400" dir="5400000">
              <a:srgbClr val="1E2761">
                <a:alpha val="18000"/>
              </a:srgbClr>
            </a:outerShdw>
          </a:effectLst>
        </p:spPr>
      </p:sp>
      <p:sp>
        <p:nvSpPr>
          <p:cNvPr id="5" name="Text 3"/>
          <p:cNvSpPr txBox="1"/>
          <p:nvPr/>
        </p:nvSpPr>
        <p:spPr>
          <a:xfrm>
            <a:off x="640080" y="2377440"/>
            <a:ext cx="2148840" cy="5486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User</a:t>
            </a:r>
            <a:endParaRPr lang="en-US" sz="1400" dirty="0"/>
          </a:p>
        </p:txBody>
      </p:sp>
      <p:sp>
        <p:nvSpPr>
          <p:cNvPr id="6" name="Text 4"/>
          <p:cNvSpPr txBox="1"/>
          <p:nvPr/>
        </p:nvSpPr>
        <p:spPr>
          <a:xfrm>
            <a:off x="640080" y="3017520"/>
            <a:ext cx="2148840" cy="914400"/>
          </a:xfrm>
          <a:prstGeom prst="rect">
            <a:avLst/>
          </a:prstGeom>
          <a:noFill/>
          <a:ln/>
        </p:spPr>
        <p:txBody>
          <a:bodyPr wrap="square" lIns="0" tIns="0" rIns="0" bIns="0" rtlCol="0" anchor="t"/>
          <a:lstStyle/>
          <a:p>
            <a:pPr algn="ctr" indent="0" marL="0">
              <a:buNone/>
            </a:pPr>
            <a:r>
              <a:rPr lang="en-US" sz="1050" dirty="0">
                <a:solidFill>
                  <a:srgbClr val="5C6B8A"/>
                </a:solidFill>
                <a:latin typeface="Calibri" pitchFamily="34" charset="0"/>
                <a:ea typeface="Calibri" pitchFamily="34" charset="-122"/>
                <a:cs typeface="Calibri" pitchFamily="34" charset="-120"/>
              </a:rPr>
              <a:t>Requests the site</a:t>
            </a:r>
            <a:endParaRPr lang="en-US" sz="1050" dirty="0"/>
          </a:p>
          <a:p>
            <a:pPr algn="ctr" indent="0" marL="0">
              <a:buNone/>
            </a:pPr>
            <a:r>
              <a:rPr lang="en-US" sz="1050" dirty="0">
                <a:solidFill>
                  <a:srgbClr val="5C6B8A"/>
                </a:solidFill>
                <a:latin typeface="Calibri" pitchFamily="34" charset="0"/>
                <a:ea typeface="Calibri" pitchFamily="34" charset="-122"/>
                <a:cs typeface="Calibri" pitchFamily="34" charset="-120"/>
              </a:rPr>
              <a:t>in a browser</a:t>
            </a:r>
            <a:endParaRPr lang="en-US" sz="1050" dirty="0"/>
          </a:p>
        </p:txBody>
      </p:sp>
      <p:sp>
        <p:nvSpPr>
          <p:cNvPr id="7" name="Shape 5"/>
          <p:cNvSpPr/>
          <p:nvPr/>
        </p:nvSpPr>
        <p:spPr>
          <a:xfrm>
            <a:off x="2944368" y="3017520"/>
            <a:ext cx="329184" cy="274320"/>
          </a:xfrm>
          <a:prstGeom prst="rightArrow">
            <a:avLst/>
          </a:prstGeom>
          <a:solidFill>
            <a:srgbClr val="1E2761"/>
          </a:solidFill>
          <a:ln/>
        </p:spPr>
      </p:sp>
      <p:sp>
        <p:nvSpPr>
          <p:cNvPr id="8" name="Shape 6"/>
          <p:cNvSpPr/>
          <p:nvPr/>
        </p:nvSpPr>
        <p:spPr>
          <a:xfrm>
            <a:off x="3337560" y="2194560"/>
            <a:ext cx="2331720" cy="1920240"/>
          </a:xfrm>
          <a:prstGeom prst="roundRect">
            <a:avLst>
              <a:gd name="adj" fmla="val 5714"/>
            </a:avLst>
          </a:prstGeom>
          <a:solidFill>
            <a:srgbClr val="FFFFFF"/>
          </a:solidFill>
          <a:ln w="19050">
            <a:solidFill>
              <a:srgbClr val="1E2761"/>
            </a:solidFill>
            <a:prstDash val="solid"/>
          </a:ln>
          <a:effectLst>
            <a:outerShdw sx="100000" sy="100000" kx="0" ky="0" algn="bl" rotWithShape="0" blurRad="63500" dist="25400" dir="5400000">
              <a:srgbClr val="1E2761">
                <a:alpha val="18000"/>
              </a:srgbClr>
            </a:outerShdw>
          </a:effectLst>
        </p:spPr>
      </p:sp>
      <p:sp>
        <p:nvSpPr>
          <p:cNvPr id="9" name="Text 7"/>
          <p:cNvSpPr txBox="1"/>
          <p:nvPr/>
        </p:nvSpPr>
        <p:spPr>
          <a:xfrm>
            <a:off x="3429000" y="2377440"/>
            <a:ext cx="2148840" cy="5486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DNS</a:t>
            </a:r>
            <a:endParaRPr lang="en-US" sz="1400" dirty="0"/>
          </a:p>
        </p:txBody>
      </p:sp>
      <p:sp>
        <p:nvSpPr>
          <p:cNvPr id="10" name="Text 8"/>
          <p:cNvSpPr txBox="1"/>
          <p:nvPr/>
        </p:nvSpPr>
        <p:spPr>
          <a:xfrm>
            <a:off x="3429000" y="3017520"/>
            <a:ext cx="2148840" cy="914400"/>
          </a:xfrm>
          <a:prstGeom prst="rect">
            <a:avLst/>
          </a:prstGeom>
          <a:noFill/>
          <a:ln/>
        </p:spPr>
        <p:txBody>
          <a:bodyPr wrap="square" lIns="0" tIns="0" rIns="0" bIns="0" rtlCol="0" anchor="t"/>
          <a:lstStyle/>
          <a:p>
            <a:pPr algn="ctr" indent="0" marL="0">
              <a:buNone/>
            </a:pPr>
            <a:r>
              <a:rPr lang="en-US" sz="1050" dirty="0">
                <a:solidFill>
                  <a:srgbClr val="5C6B8A"/>
                </a:solidFill>
                <a:latin typeface="Calibri" pitchFamily="34" charset="0"/>
                <a:ea typeface="Calibri" pitchFamily="34" charset="-122"/>
                <a:cs typeface="Calibri" pitchFamily="34" charset="-120"/>
              </a:rPr>
              <a:t>Resolves domain to</a:t>
            </a:r>
            <a:endParaRPr lang="en-US" sz="1050" dirty="0"/>
          </a:p>
          <a:p>
            <a:pPr algn="ctr" indent="0" marL="0">
              <a:buNone/>
            </a:pPr>
            <a:r>
              <a:rPr lang="en-US" sz="1050" dirty="0">
                <a:solidFill>
                  <a:srgbClr val="5C6B8A"/>
                </a:solidFill>
                <a:latin typeface="Calibri" pitchFamily="34" charset="0"/>
                <a:ea typeface="Calibri" pitchFamily="34" charset="-122"/>
                <a:cs typeface="Calibri" pitchFamily="34" charset="-120"/>
              </a:rPr>
              <a:t>Front Door endpoint</a:t>
            </a:r>
            <a:endParaRPr lang="en-US" sz="1050" dirty="0"/>
          </a:p>
        </p:txBody>
      </p:sp>
      <p:sp>
        <p:nvSpPr>
          <p:cNvPr id="11" name="Shape 9"/>
          <p:cNvSpPr/>
          <p:nvPr/>
        </p:nvSpPr>
        <p:spPr>
          <a:xfrm>
            <a:off x="5733288" y="3017520"/>
            <a:ext cx="329184" cy="274320"/>
          </a:xfrm>
          <a:prstGeom prst="rightArrow">
            <a:avLst/>
          </a:prstGeom>
          <a:solidFill>
            <a:srgbClr val="1E2761"/>
          </a:solidFill>
          <a:ln/>
        </p:spPr>
      </p:sp>
      <p:sp>
        <p:nvSpPr>
          <p:cNvPr id="12" name="Shape 10"/>
          <p:cNvSpPr/>
          <p:nvPr/>
        </p:nvSpPr>
        <p:spPr>
          <a:xfrm>
            <a:off x="6126480" y="2194560"/>
            <a:ext cx="2331720" cy="1920240"/>
          </a:xfrm>
          <a:prstGeom prst="roundRect">
            <a:avLst>
              <a:gd name="adj" fmla="val 5714"/>
            </a:avLst>
          </a:prstGeom>
          <a:solidFill>
            <a:srgbClr val="1E2761"/>
          </a:solidFill>
          <a:ln w="19050">
            <a:solidFill>
              <a:srgbClr val="1E2761"/>
            </a:solidFill>
            <a:prstDash val="solid"/>
          </a:ln>
          <a:effectLst>
            <a:outerShdw sx="100000" sy="100000" kx="0" ky="0" algn="bl" rotWithShape="0" blurRad="63500" dist="25400" dir="5400000">
              <a:srgbClr val="1E2761">
                <a:alpha val="18000"/>
              </a:srgbClr>
            </a:outerShdw>
          </a:effectLst>
        </p:spPr>
      </p:sp>
      <p:sp>
        <p:nvSpPr>
          <p:cNvPr id="13" name="Text 11"/>
          <p:cNvSpPr txBox="1"/>
          <p:nvPr/>
        </p:nvSpPr>
        <p:spPr>
          <a:xfrm>
            <a:off x="6217920" y="2377440"/>
            <a:ext cx="21488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Azure Front Door</a:t>
            </a:r>
            <a:endParaRPr lang="en-US" sz="1400" dirty="0"/>
          </a:p>
        </p:txBody>
      </p:sp>
      <p:sp>
        <p:nvSpPr>
          <p:cNvPr id="14" name="Text 12"/>
          <p:cNvSpPr txBox="1"/>
          <p:nvPr/>
        </p:nvSpPr>
        <p:spPr>
          <a:xfrm>
            <a:off x="6217920" y="3017520"/>
            <a:ext cx="2148840" cy="91440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Edge cache, WAF,</a:t>
            </a:r>
            <a:endParaRPr lang="en-US" sz="1050" dirty="0"/>
          </a:p>
          <a:p>
            <a:pPr algn="ctr" indent="0" marL="0">
              <a:buNone/>
            </a:pPr>
            <a:r>
              <a:rPr lang="en-US" sz="1050" dirty="0">
                <a:solidFill>
                  <a:srgbClr val="CADCFC"/>
                </a:solidFill>
                <a:latin typeface="Calibri" pitchFamily="34" charset="0"/>
                <a:ea typeface="Calibri" pitchFamily="34" charset="-122"/>
                <a:cs typeface="Calibri" pitchFamily="34" charset="-120"/>
              </a:rPr>
              <a:t>HTTPS, routing</a:t>
            </a:r>
            <a:endParaRPr lang="en-US" sz="1050" dirty="0"/>
          </a:p>
        </p:txBody>
      </p:sp>
      <p:sp>
        <p:nvSpPr>
          <p:cNvPr id="15" name="Shape 13"/>
          <p:cNvSpPr/>
          <p:nvPr/>
        </p:nvSpPr>
        <p:spPr>
          <a:xfrm>
            <a:off x="8522208" y="3017520"/>
            <a:ext cx="329184" cy="274320"/>
          </a:xfrm>
          <a:prstGeom prst="rightArrow">
            <a:avLst/>
          </a:prstGeom>
          <a:solidFill>
            <a:srgbClr val="1E2761"/>
          </a:solidFill>
          <a:ln/>
        </p:spPr>
      </p:sp>
      <p:sp>
        <p:nvSpPr>
          <p:cNvPr id="16" name="Shape 14"/>
          <p:cNvSpPr/>
          <p:nvPr/>
        </p:nvSpPr>
        <p:spPr>
          <a:xfrm>
            <a:off x="8915400" y="2194560"/>
            <a:ext cx="2331720" cy="1920240"/>
          </a:xfrm>
          <a:prstGeom prst="roundRect">
            <a:avLst>
              <a:gd name="adj" fmla="val 5714"/>
            </a:avLst>
          </a:prstGeom>
          <a:solidFill>
            <a:srgbClr val="FFFFFF"/>
          </a:solidFill>
          <a:ln w="19050">
            <a:solidFill>
              <a:srgbClr val="1E2761"/>
            </a:solidFill>
            <a:prstDash val="solid"/>
          </a:ln>
          <a:effectLst>
            <a:outerShdw sx="100000" sy="100000" kx="0" ky="0" algn="bl" rotWithShape="0" blurRad="63500" dist="25400" dir="5400000">
              <a:srgbClr val="1E2761">
                <a:alpha val="18000"/>
              </a:srgbClr>
            </a:outerShdw>
          </a:effectLst>
        </p:spPr>
      </p:sp>
      <p:sp>
        <p:nvSpPr>
          <p:cNvPr id="17" name="Text 15"/>
          <p:cNvSpPr txBox="1"/>
          <p:nvPr/>
        </p:nvSpPr>
        <p:spPr>
          <a:xfrm>
            <a:off x="9006840" y="2377440"/>
            <a:ext cx="2148840" cy="5486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Azure Storage</a:t>
            </a:r>
            <a:endParaRPr lang="en-US" sz="1400" dirty="0"/>
          </a:p>
        </p:txBody>
      </p:sp>
      <p:sp>
        <p:nvSpPr>
          <p:cNvPr id="18" name="Text 16"/>
          <p:cNvSpPr txBox="1"/>
          <p:nvPr/>
        </p:nvSpPr>
        <p:spPr>
          <a:xfrm>
            <a:off x="9006840" y="3017520"/>
            <a:ext cx="2148840" cy="914400"/>
          </a:xfrm>
          <a:prstGeom prst="rect">
            <a:avLst/>
          </a:prstGeom>
          <a:noFill/>
          <a:ln/>
        </p:spPr>
        <p:txBody>
          <a:bodyPr wrap="square" lIns="0" tIns="0" rIns="0" bIns="0" rtlCol="0" anchor="t"/>
          <a:lstStyle/>
          <a:p>
            <a:pPr algn="ctr" indent="0" marL="0">
              <a:buNone/>
            </a:pPr>
            <a:r>
              <a:rPr lang="en-US" sz="1050" dirty="0">
                <a:solidFill>
                  <a:srgbClr val="5C6B8A"/>
                </a:solidFill>
                <a:latin typeface="Calibri" pitchFamily="34" charset="0"/>
                <a:ea typeface="Calibri" pitchFamily="34" charset="-122"/>
                <a:cs typeface="Calibri" pitchFamily="34" charset="-120"/>
              </a:rPr>
              <a:t>Serves static files</a:t>
            </a:r>
            <a:endParaRPr lang="en-US" sz="1050" dirty="0"/>
          </a:p>
          <a:p>
            <a:pPr algn="ctr" indent="0" marL="0">
              <a:buNone/>
            </a:pPr>
            <a:r>
              <a:rPr lang="en-US" sz="1050" dirty="0">
                <a:solidFill>
                  <a:srgbClr val="5C6B8A"/>
                </a:solidFill>
                <a:latin typeface="Calibri" pitchFamily="34" charset="0"/>
                <a:ea typeface="Calibri" pitchFamily="34" charset="-122"/>
                <a:cs typeface="Calibri" pitchFamily="34" charset="-120"/>
              </a:rPr>
              <a:t>from $web container</a:t>
            </a:r>
            <a:endParaRPr lang="en-US" sz="1050" dirty="0"/>
          </a:p>
        </p:txBody>
      </p:sp>
      <p:sp>
        <p:nvSpPr>
          <p:cNvPr id="19" name="Text 17"/>
          <p:cNvSpPr txBox="1"/>
          <p:nvPr/>
        </p:nvSpPr>
        <p:spPr>
          <a:xfrm>
            <a:off x="548640" y="4480560"/>
            <a:ext cx="10424160" cy="731520"/>
          </a:xfrm>
          <a:prstGeom prst="rect">
            <a:avLst/>
          </a:prstGeom>
          <a:noFill/>
          <a:ln/>
        </p:spPr>
        <p:txBody>
          <a:bodyPr wrap="square" lIns="0" tIns="0" rIns="0" bIns="0" rtlCol="0" anchor="ctr"/>
          <a:lstStyle/>
          <a:p>
            <a:pPr algn="ctr" indent="0" marL="0">
              <a:buNone/>
            </a:pPr>
            <a:r>
              <a:rPr lang="en-US" sz="1250" i="1" dirty="0">
                <a:solidFill>
                  <a:srgbClr val="5C6B8A"/>
                </a:solidFill>
                <a:latin typeface="Calibri" pitchFamily="34" charset="0"/>
                <a:ea typeface="Calibri" pitchFamily="34" charset="-122"/>
                <a:cs typeface="Calibri" pitchFamily="34" charset="-120"/>
              </a:rPr>
              <a:t>Primary path shown left to right. Front Door serves cached content directly when available, else fetches from the Storage origin and caches the response for subsequent requests.</a:t>
            </a:r>
            <a:endParaRPr lang="en-US" sz="1250" dirty="0"/>
          </a:p>
        </p:txBody>
      </p:sp>
      <p:sp>
        <p:nvSpPr>
          <p:cNvPr id="20" name="Text 18"/>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21" name="Text 19"/>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Resource Identification</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Shape 2"/>
          <p:cNvSpPr/>
          <p:nvPr/>
        </p:nvSpPr>
        <p:spPr>
          <a:xfrm>
            <a:off x="548640" y="1371600"/>
            <a:ext cx="3337560" cy="1371600"/>
          </a:xfrm>
          <a:prstGeom prst="roundRect">
            <a:avLst>
              <a:gd name="adj" fmla="val 5333"/>
            </a:avLst>
          </a:prstGeom>
          <a:solidFill>
            <a:srgbClr val="F4F6FC"/>
          </a:solidFill>
          <a:ln/>
        </p:spPr>
      </p:sp>
      <p:sp>
        <p:nvSpPr>
          <p:cNvPr id="5" name="Text 3"/>
          <p:cNvSpPr txBox="1"/>
          <p:nvPr/>
        </p:nvSpPr>
        <p:spPr>
          <a:xfrm>
            <a:off x="777240" y="1554480"/>
            <a:ext cx="288036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Storage Account</a:t>
            </a:r>
            <a:endParaRPr lang="en-US" sz="1350" dirty="0"/>
          </a:p>
        </p:txBody>
      </p:sp>
      <p:sp>
        <p:nvSpPr>
          <p:cNvPr id="6" name="Text 4"/>
          <p:cNvSpPr txBox="1"/>
          <p:nvPr/>
        </p:nvSpPr>
        <p:spPr>
          <a:xfrm>
            <a:off x="777240" y="1938528"/>
            <a:ext cx="2880360" cy="731520"/>
          </a:xfrm>
          <a:prstGeom prst="rect">
            <a:avLst/>
          </a:prstGeom>
          <a:noFill/>
          <a:ln/>
        </p:spPr>
        <p:txBody>
          <a:bodyPr wrap="square" lIns="0" tIns="0" rIns="0" bIns="0" rtlCol="0" anchor="t"/>
          <a:lstStyle/>
          <a:p>
            <a:pPr indent="0" marL="0">
              <a:buNone/>
            </a:pPr>
            <a:r>
              <a:rPr lang="en-US" sz="1100" dirty="0">
                <a:solidFill>
                  <a:srgbClr val="1E2761"/>
                </a:solidFill>
                <a:latin typeface="Calibri" pitchFamily="34" charset="0"/>
                <a:ea typeface="Calibri" pitchFamily="34" charset="-122"/>
                <a:cs typeface="Calibri" pitchFamily="34" charset="-120"/>
              </a:rPr>
              <a:t>Blob storage configured for static websites; serves files from $web.</a:t>
            </a:r>
            <a:endParaRPr lang="en-US" sz="1100" dirty="0"/>
          </a:p>
        </p:txBody>
      </p:sp>
      <p:sp>
        <p:nvSpPr>
          <p:cNvPr id="7" name="Shape 5"/>
          <p:cNvSpPr/>
          <p:nvPr/>
        </p:nvSpPr>
        <p:spPr>
          <a:xfrm>
            <a:off x="4206240" y="1371600"/>
            <a:ext cx="3337560" cy="1371600"/>
          </a:xfrm>
          <a:prstGeom prst="roundRect">
            <a:avLst>
              <a:gd name="adj" fmla="val 5333"/>
            </a:avLst>
          </a:prstGeom>
          <a:solidFill>
            <a:srgbClr val="F4F6FC"/>
          </a:solidFill>
          <a:ln/>
        </p:spPr>
      </p:sp>
      <p:sp>
        <p:nvSpPr>
          <p:cNvPr id="8" name="Text 6"/>
          <p:cNvSpPr txBox="1"/>
          <p:nvPr/>
        </p:nvSpPr>
        <p:spPr>
          <a:xfrm>
            <a:off x="4434840" y="1554480"/>
            <a:ext cx="288036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Front Door Profile</a:t>
            </a:r>
            <a:endParaRPr lang="en-US" sz="1350" dirty="0"/>
          </a:p>
        </p:txBody>
      </p:sp>
      <p:sp>
        <p:nvSpPr>
          <p:cNvPr id="9" name="Text 7"/>
          <p:cNvSpPr txBox="1"/>
          <p:nvPr/>
        </p:nvSpPr>
        <p:spPr>
          <a:xfrm>
            <a:off x="4434840" y="1938528"/>
            <a:ext cx="2880360" cy="731520"/>
          </a:xfrm>
          <a:prstGeom prst="rect">
            <a:avLst/>
          </a:prstGeom>
          <a:noFill/>
          <a:ln/>
        </p:spPr>
        <p:txBody>
          <a:bodyPr wrap="square" lIns="0" tIns="0" rIns="0" bIns="0" rtlCol="0" anchor="t"/>
          <a:lstStyle/>
          <a:p>
            <a:pPr indent="0" marL="0">
              <a:buNone/>
            </a:pPr>
            <a:r>
              <a:rPr lang="en-US" sz="1100" dirty="0">
                <a:solidFill>
                  <a:srgbClr val="1E2761"/>
                </a:solidFill>
                <a:latin typeface="Calibri" pitchFamily="34" charset="0"/>
                <a:ea typeface="Calibri" pitchFamily="34" charset="-122"/>
                <a:cs typeface="Calibri" pitchFamily="34" charset="-120"/>
              </a:rPr>
              <a:t>Global entry point; origin group, routing rules, caching.</a:t>
            </a:r>
            <a:endParaRPr lang="en-US" sz="1100" dirty="0"/>
          </a:p>
        </p:txBody>
      </p:sp>
      <p:sp>
        <p:nvSpPr>
          <p:cNvPr id="10" name="Shape 8"/>
          <p:cNvSpPr/>
          <p:nvPr/>
        </p:nvSpPr>
        <p:spPr>
          <a:xfrm>
            <a:off x="7863840" y="1371600"/>
            <a:ext cx="3337560" cy="1371600"/>
          </a:xfrm>
          <a:prstGeom prst="roundRect">
            <a:avLst>
              <a:gd name="adj" fmla="val 5333"/>
            </a:avLst>
          </a:prstGeom>
          <a:solidFill>
            <a:srgbClr val="F4F6FC"/>
          </a:solidFill>
          <a:ln/>
        </p:spPr>
      </p:sp>
      <p:sp>
        <p:nvSpPr>
          <p:cNvPr id="11" name="Text 9"/>
          <p:cNvSpPr txBox="1"/>
          <p:nvPr/>
        </p:nvSpPr>
        <p:spPr>
          <a:xfrm>
            <a:off x="8092440" y="1554480"/>
            <a:ext cx="288036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Endpoint / Origin</a:t>
            </a:r>
            <a:endParaRPr lang="en-US" sz="1350" dirty="0"/>
          </a:p>
        </p:txBody>
      </p:sp>
      <p:sp>
        <p:nvSpPr>
          <p:cNvPr id="12" name="Text 10"/>
          <p:cNvSpPr txBox="1"/>
          <p:nvPr/>
        </p:nvSpPr>
        <p:spPr>
          <a:xfrm>
            <a:off x="8092440" y="1938528"/>
            <a:ext cx="2880360" cy="731520"/>
          </a:xfrm>
          <a:prstGeom prst="rect">
            <a:avLst/>
          </a:prstGeom>
          <a:noFill/>
          <a:ln/>
        </p:spPr>
        <p:txBody>
          <a:bodyPr wrap="square" lIns="0" tIns="0" rIns="0" bIns="0" rtlCol="0" anchor="t"/>
          <a:lstStyle/>
          <a:p>
            <a:pPr indent="0" marL="0">
              <a:buNone/>
            </a:pPr>
            <a:r>
              <a:rPr lang="en-US" sz="1100" dirty="0">
                <a:solidFill>
                  <a:srgbClr val="1E2761"/>
                </a:solidFill>
                <a:latin typeface="Calibri" pitchFamily="34" charset="0"/>
                <a:ea typeface="Calibri" pitchFamily="34" charset="-122"/>
                <a:cs typeface="Calibri" pitchFamily="34" charset="-120"/>
              </a:rPr>
              <a:t>Front Door origin points to the storage static website endpoint.</a:t>
            </a:r>
            <a:endParaRPr lang="en-US" sz="1100" dirty="0"/>
          </a:p>
        </p:txBody>
      </p:sp>
      <p:sp>
        <p:nvSpPr>
          <p:cNvPr id="13" name="Shape 11"/>
          <p:cNvSpPr/>
          <p:nvPr/>
        </p:nvSpPr>
        <p:spPr>
          <a:xfrm>
            <a:off x="548640" y="3017520"/>
            <a:ext cx="3337560" cy="1371600"/>
          </a:xfrm>
          <a:prstGeom prst="roundRect">
            <a:avLst>
              <a:gd name="adj" fmla="val 5333"/>
            </a:avLst>
          </a:prstGeom>
          <a:solidFill>
            <a:srgbClr val="F4F6FC"/>
          </a:solidFill>
          <a:ln/>
        </p:spPr>
      </p:sp>
      <p:sp>
        <p:nvSpPr>
          <p:cNvPr id="14" name="Text 12"/>
          <p:cNvSpPr txBox="1"/>
          <p:nvPr/>
        </p:nvSpPr>
        <p:spPr>
          <a:xfrm>
            <a:off x="777240" y="3200400"/>
            <a:ext cx="288036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Custom Domain</a:t>
            </a:r>
            <a:endParaRPr lang="en-US" sz="1350" dirty="0"/>
          </a:p>
        </p:txBody>
      </p:sp>
      <p:sp>
        <p:nvSpPr>
          <p:cNvPr id="15" name="Text 13"/>
          <p:cNvSpPr txBox="1"/>
          <p:nvPr/>
        </p:nvSpPr>
        <p:spPr>
          <a:xfrm>
            <a:off x="777240" y="3584448"/>
            <a:ext cx="2880360" cy="731520"/>
          </a:xfrm>
          <a:prstGeom prst="rect">
            <a:avLst/>
          </a:prstGeom>
          <a:noFill/>
          <a:ln/>
        </p:spPr>
        <p:txBody>
          <a:bodyPr wrap="square" lIns="0" tIns="0" rIns="0" bIns="0" rtlCol="0" anchor="t"/>
          <a:lstStyle/>
          <a:p>
            <a:pPr indent="0" marL="0">
              <a:buNone/>
            </a:pPr>
            <a:r>
              <a:rPr lang="en-US" sz="1100" dirty="0">
                <a:solidFill>
                  <a:srgbClr val="1E2761"/>
                </a:solidFill>
                <a:latin typeface="Calibri" pitchFamily="34" charset="0"/>
                <a:ea typeface="Calibri" pitchFamily="34" charset="-122"/>
                <a:cs typeface="Calibri" pitchFamily="34" charset="-120"/>
              </a:rPr>
              <a:t>Branded domain mapped to the Front Door endpoint.</a:t>
            </a:r>
            <a:endParaRPr lang="en-US" sz="1100" dirty="0"/>
          </a:p>
        </p:txBody>
      </p:sp>
      <p:sp>
        <p:nvSpPr>
          <p:cNvPr id="16" name="Shape 14"/>
          <p:cNvSpPr/>
          <p:nvPr/>
        </p:nvSpPr>
        <p:spPr>
          <a:xfrm>
            <a:off x="4206240" y="3017520"/>
            <a:ext cx="3337560" cy="1371600"/>
          </a:xfrm>
          <a:prstGeom prst="roundRect">
            <a:avLst>
              <a:gd name="adj" fmla="val 5333"/>
            </a:avLst>
          </a:prstGeom>
          <a:solidFill>
            <a:srgbClr val="F4F6FC"/>
          </a:solidFill>
          <a:ln/>
        </p:spPr>
      </p:sp>
      <p:sp>
        <p:nvSpPr>
          <p:cNvPr id="17" name="Text 15"/>
          <p:cNvSpPr txBox="1"/>
          <p:nvPr/>
        </p:nvSpPr>
        <p:spPr>
          <a:xfrm>
            <a:off x="4434840" y="3200400"/>
            <a:ext cx="288036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WAF Policy</a:t>
            </a:r>
            <a:endParaRPr lang="en-US" sz="1350" dirty="0"/>
          </a:p>
        </p:txBody>
      </p:sp>
      <p:sp>
        <p:nvSpPr>
          <p:cNvPr id="18" name="Text 16"/>
          <p:cNvSpPr txBox="1"/>
          <p:nvPr/>
        </p:nvSpPr>
        <p:spPr>
          <a:xfrm>
            <a:off x="4434840" y="3584448"/>
            <a:ext cx="2880360" cy="731520"/>
          </a:xfrm>
          <a:prstGeom prst="rect">
            <a:avLst/>
          </a:prstGeom>
          <a:noFill/>
          <a:ln/>
        </p:spPr>
        <p:txBody>
          <a:bodyPr wrap="square" lIns="0" tIns="0" rIns="0" bIns="0" rtlCol="0" anchor="t"/>
          <a:lstStyle/>
          <a:p>
            <a:pPr indent="0" marL="0">
              <a:buNone/>
            </a:pPr>
            <a:r>
              <a:rPr lang="en-US" sz="1100" dirty="0">
                <a:solidFill>
                  <a:srgbClr val="1E2761"/>
                </a:solidFill>
                <a:latin typeface="Calibri" pitchFamily="34" charset="0"/>
                <a:ea typeface="Calibri" pitchFamily="34" charset="-122"/>
                <a:cs typeface="Calibri" pitchFamily="34" charset="-120"/>
              </a:rPr>
              <a:t>Optional firewall rules attached to Front Door for protection.</a:t>
            </a:r>
            <a:endParaRPr lang="en-US" sz="1100" dirty="0"/>
          </a:p>
        </p:txBody>
      </p:sp>
      <p:sp>
        <p:nvSpPr>
          <p:cNvPr id="19" name="Shape 17"/>
          <p:cNvSpPr/>
          <p:nvPr/>
        </p:nvSpPr>
        <p:spPr>
          <a:xfrm>
            <a:off x="7863840" y="3017520"/>
            <a:ext cx="3337560" cy="1371600"/>
          </a:xfrm>
          <a:prstGeom prst="roundRect">
            <a:avLst>
              <a:gd name="adj" fmla="val 5333"/>
            </a:avLst>
          </a:prstGeom>
          <a:solidFill>
            <a:srgbClr val="F4F6FC"/>
          </a:solidFill>
          <a:ln/>
        </p:spPr>
      </p:sp>
      <p:sp>
        <p:nvSpPr>
          <p:cNvPr id="20" name="Text 18"/>
          <p:cNvSpPr txBox="1"/>
          <p:nvPr/>
        </p:nvSpPr>
        <p:spPr>
          <a:xfrm>
            <a:off x="8092440" y="3200400"/>
            <a:ext cx="288036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Resource Group</a:t>
            </a:r>
            <a:endParaRPr lang="en-US" sz="1350" dirty="0"/>
          </a:p>
        </p:txBody>
      </p:sp>
      <p:sp>
        <p:nvSpPr>
          <p:cNvPr id="21" name="Text 19"/>
          <p:cNvSpPr txBox="1"/>
          <p:nvPr/>
        </p:nvSpPr>
        <p:spPr>
          <a:xfrm>
            <a:off x="8092440" y="3584448"/>
            <a:ext cx="2880360" cy="731520"/>
          </a:xfrm>
          <a:prstGeom prst="rect">
            <a:avLst/>
          </a:prstGeom>
          <a:noFill/>
          <a:ln/>
        </p:spPr>
        <p:txBody>
          <a:bodyPr wrap="square" lIns="0" tIns="0" rIns="0" bIns="0" rtlCol="0" anchor="t"/>
          <a:lstStyle/>
          <a:p>
            <a:pPr indent="0" marL="0">
              <a:buNone/>
            </a:pPr>
            <a:r>
              <a:rPr lang="en-US" sz="1100" dirty="0">
                <a:solidFill>
                  <a:srgbClr val="1E2761"/>
                </a:solidFill>
                <a:latin typeface="Calibri" pitchFamily="34" charset="0"/>
                <a:ea typeface="Calibri" pitchFamily="34" charset="-122"/>
                <a:cs typeface="Calibri" pitchFamily="34" charset="-120"/>
              </a:rPr>
              <a:t>Groups and manages all of the above as one unit.</a:t>
            </a:r>
            <a:endParaRPr lang="en-US" sz="1100" dirty="0"/>
          </a:p>
        </p:txBody>
      </p:sp>
      <p:sp>
        <p:nvSpPr>
          <p:cNvPr id="22" name="Text 20"/>
          <p:cNvSpPr txBox="1"/>
          <p:nvPr/>
        </p:nvSpPr>
        <p:spPr>
          <a:xfrm>
            <a:off x="548640" y="4754880"/>
            <a:ext cx="10424160" cy="548640"/>
          </a:xfrm>
          <a:prstGeom prst="rect">
            <a:avLst/>
          </a:prstGeom>
          <a:noFill/>
          <a:ln/>
        </p:spPr>
        <p:txBody>
          <a:bodyPr wrap="square" lIns="0" tIns="0" rIns="0" bIns="0" rtlCol="0" anchor="ctr"/>
          <a:lstStyle/>
          <a:p>
            <a:pPr algn="ctr" indent="0" marL="0">
              <a:buNone/>
            </a:pPr>
            <a:r>
              <a:rPr lang="en-US" sz="1250" i="1" dirty="0">
                <a:solidFill>
                  <a:srgbClr val="5C6B8A"/>
                </a:solidFill>
                <a:latin typeface="Calibri" pitchFamily="34" charset="0"/>
                <a:ea typeface="Calibri" pitchFamily="34" charset="-122"/>
                <a:cs typeface="Calibri" pitchFamily="34" charset="-120"/>
              </a:rPr>
              <a:t>Why this architecture: no servers to manage, global performance out of the box, and integrated security with clear separation of concerns.</a:t>
            </a:r>
            <a:endParaRPr lang="en-US" sz="1250" dirty="0"/>
          </a:p>
        </p:txBody>
      </p:sp>
      <p:sp>
        <p:nvSpPr>
          <p:cNvPr id="23" name="Text 2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24" name="Text 22"/>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C"/>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Deployment Architecture</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Text 2"/>
          <p:cNvSpPr txBox="1"/>
          <p:nvPr/>
        </p:nvSpPr>
        <p:spPr>
          <a:xfrm>
            <a:off x="548640" y="1188720"/>
            <a:ext cx="10424160" cy="457200"/>
          </a:xfrm>
          <a:prstGeom prst="rect">
            <a:avLst/>
          </a:prstGeom>
          <a:noFill/>
          <a:ln/>
        </p:spPr>
        <p:txBody>
          <a:bodyPr wrap="square" lIns="0" tIns="0" rIns="0" bIns="0" rtlCol="0" anchor="ctr"/>
          <a:lstStyle/>
          <a:p>
            <a:pPr indent="0" marL="0">
              <a:buNone/>
            </a:pPr>
            <a:r>
              <a:rPr lang="en-US" sz="1300" i="1" dirty="0">
                <a:solidFill>
                  <a:srgbClr val="5C6B8A"/>
                </a:solidFill>
                <a:latin typeface="Calibri" pitchFamily="34" charset="0"/>
                <a:ea typeface="Calibri" pitchFamily="34" charset="-122"/>
                <a:cs typeface="Calibri" pitchFamily="34" charset="-120"/>
              </a:rPr>
              <a:t>Legend:  Client (Browser)  →  Azure Front Door (Edge, WAF, Caching)  →  Azure Storage (Static Website $web)</a:t>
            </a:r>
            <a:endParaRPr lang="en-US" sz="1300" dirty="0"/>
          </a:p>
        </p:txBody>
      </p:sp>
      <p:sp>
        <p:nvSpPr>
          <p:cNvPr id="5" name="Shape 3"/>
          <p:cNvSpPr/>
          <p:nvPr/>
        </p:nvSpPr>
        <p:spPr>
          <a:xfrm>
            <a:off x="548640" y="1828800"/>
            <a:ext cx="3337560" cy="1828800"/>
          </a:xfrm>
          <a:prstGeom prst="roundRect">
            <a:avLst>
              <a:gd name="adj" fmla="val 5000"/>
            </a:avLst>
          </a:prstGeom>
          <a:solidFill>
            <a:srgbClr val="FFFFFF"/>
          </a:solidFill>
          <a:ln w="12700">
            <a:solidFill>
              <a:srgbClr val="1E2761"/>
            </a:solidFill>
            <a:prstDash val="solid"/>
          </a:ln>
        </p:spPr>
      </p:sp>
      <p:sp>
        <p:nvSpPr>
          <p:cNvPr id="6" name="Text 4"/>
          <p:cNvSpPr txBox="1"/>
          <p:nvPr/>
        </p:nvSpPr>
        <p:spPr>
          <a:xfrm>
            <a:off x="777240" y="2011680"/>
            <a:ext cx="288036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Services</a:t>
            </a:r>
            <a:endParaRPr lang="en-US" sz="1400" dirty="0"/>
          </a:p>
        </p:txBody>
      </p:sp>
      <p:sp>
        <p:nvSpPr>
          <p:cNvPr id="7" name="Text 5"/>
          <p:cNvSpPr txBox="1"/>
          <p:nvPr/>
        </p:nvSpPr>
        <p:spPr>
          <a:xfrm>
            <a:off x="777240" y="2423160"/>
            <a:ext cx="2880360" cy="1005840"/>
          </a:xfrm>
          <a:prstGeom prst="rect">
            <a:avLst/>
          </a:prstGeom>
          <a:noFill/>
          <a:ln/>
        </p:spPr>
        <p:txBody>
          <a:bodyPr wrap="square" lIns="0" tIns="0" rIns="0" bIns="0" rtlCol="0" anchor="t"/>
          <a:lstStyle/>
          <a:p>
            <a:pPr indent="0" marL="0">
              <a:buNone/>
            </a:pPr>
            <a:r>
              <a:rPr lang="en-US" sz="1150" dirty="0">
                <a:solidFill>
                  <a:srgbClr val="1E2761"/>
                </a:solidFill>
                <a:latin typeface="Calibri" pitchFamily="34" charset="0"/>
                <a:ea typeface="Calibri" pitchFamily="34" charset="-122"/>
                <a:cs typeface="Calibri" pitchFamily="34" charset="-120"/>
              </a:rPr>
              <a:t>Storage Account • Front Door • Resource Group • Custom Domain • WAF Policy</a:t>
            </a:r>
            <a:endParaRPr lang="en-US" sz="1150" dirty="0"/>
          </a:p>
        </p:txBody>
      </p:sp>
      <p:sp>
        <p:nvSpPr>
          <p:cNvPr id="8" name="Shape 6"/>
          <p:cNvSpPr/>
          <p:nvPr/>
        </p:nvSpPr>
        <p:spPr>
          <a:xfrm>
            <a:off x="4206240" y="1828800"/>
            <a:ext cx="3337560" cy="1828800"/>
          </a:xfrm>
          <a:prstGeom prst="roundRect">
            <a:avLst>
              <a:gd name="adj" fmla="val 5000"/>
            </a:avLst>
          </a:prstGeom>
          <a:solidFill>
            <a:srgbClr val="FFFFFF"/>
          </a:solidFill>
          <a:ln w="12700">
            <a:solidFill>
              <a:srgbClr val="1E2761"/>
            </a:solidFill>
            <a:prstDash val="solid"/>
          </a:ln>
        </p:spPr>
      </p:sp>
      <p:sp>
        <p:nvSpPr>
          <p:cNvPr id="9" name="Text 7"/>
          <p:cNvSpPr txBox="1"/>
          <p:nvPr/>
        </p:nvSpPr>
        <p:spPr>
          <a:xfrm>
            <a:off x="4434840" y="2011680"/>
            <a:ext cx="288036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Front Door</a:t>
            </a:r>
            <a:endParaRPr lang="en-US" sz="1400" dirty="0"/>
          </a:p>
        </p:txBody>
      </p:sp>
      <p:sp>
        <p:nvSpPr>
          <p:cNvPr id="10" name="Text 8"/>
          <p:cNvSpPr txBox="1"/>
          <p:nvPr/>
        </p:nvSpPr>
        <p:spPr>
          <a:xfrm>
            <a:off x="4434840" y="2423160"/>
            <a:ext cx="2880360" cy="1005840"/>
          </a:xfrm>
          <a:prstGeom prst="rect">
            <a:avLst/>
          </a:prstGeom>
          <a:noFill/>
          <a:ln/>
        </p:spPr>
        <p:txBody>
          <a:bodyPr wrap="square" lIns="0" tIns="0" rIns="0" bIns="0" rtlCol="0" anchor="t"/>
          <a:lstStyle/>
          <a:p>
            <a:pPr indent="0" marL="0">
              <a:buNone/>
            </a:pPr>
            <a:r>
              <a:rPr lang="en-US" sz="1150" dirty="0">
                <a:solidFill>
                  <a:srgbClr val="1E2761"/>
                </a:solidFill>
                <a:latin typeface="Calibri" pitchFamily="34" charset="0"/>
                <a:ea typeface="Calibri" pitchFamily="34" charset="-122"/>
                <a:cs typeface="Calibri" pitchFamily="34" charset="-120"/>
              </a:rPr>
              <a:t>Routing, throttling, edge caching, central ingress (assigned to platform team).</a:t>
            </a:r>
            <a:endParaRPr lang="en-US" sz="1150" dirty="0"/>
          </a:p>
        </p:txBody>
      </p:sp>
      <p:sp>
        <p:nvSpPr>
          <p:cNvPr id="11" name="Shape 9"/>
          <p:cNvSpPr/>
          <p:nvPr/>
        </p:nvSpPr>
        <p:spPr>
          <a:xfrm>
            <a:off x="7863840" y="1828800"/>
            <a:ext cx="3337560" cy="1828800"/>
          </a:xfrm>
          <a:prstGeom prst="roundRect">
            <a:avLst>
              <a:gd name="adj" fmla="val 5000"/>
            </a:avLst>
          </a:prstGeom>
          <a:solidFill>
            <a:srgbClr val="FFFFFF"/>
          </a:solidFill>
          <a:ln w="12700">
            <a:solidFill>
              <a:srgbClr val="1E2761"/>
            </a:solidFill>
            <a:prstDash val="solid"/>
          </a:ln>
        </p:spPr>
      </p:sp>
      <p:sp>
        <p:nvSpPr>
          <p:cNvPr id="12" name="Text 10"/>
          <p:cNvSpPr txBox="1"/>
          <p:nvPr/>
        </p:nvSpPr>
        <p:spPr>
          <a:xfrm>
            <a:off x="8092440" y="2011680"/>
            <a:ext cx="288036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HTTPS / TLS</a:t>
            </a:r>
            <a:endParaRPr lang="en-US" sz="1400" dirty="0"/>
          </a:p>
        </p:txBody>
      </p:sp>
      <p:sp>
        <p:nvSpPr>
          <p:cNvPr id="13" name="Text 11"/>
          <p:cNvSpPr txBox="1"/>
          <p:nvPr/>
        </p:nvSpPr>
        <p:spPr>
          <a:xfrm>
            <a:off x="8092440" y="2423160"/>
            <a:ext cx="2880360" cy="1005840"/>
          </a:xfrm>
          <a:prstGeom prst="rect">
            <a:avLst/>
          </a:prstGeom>
          <a:noFill/>
          <a:ln/>
        </p:spPr>
        <p:txBody>
          <a:bodyPr wrap="square" lIns="0" tIns="0" rIns="0" bIns="0" rtlCol="0" anchor="t"/>
          <a:lstStyle/>
          <a:p>
            <a:pPr indent="0" marL="0">
              <a:buNone/>
            </a:pPr>
            <a:r>
              <a:rPr lang="en-US" sz="1150" dirty="0">
                <a:solidFill>
                  <a:srgbClr val="1E2761"/>
                </a:solidFill>
                <a:latin typeface="Calibri" pitchFamily="34" charset="0"/>
                <a:ea typeface="Calibri" pitchFamily="34" charset="-122"/>
                <a:cs typeface="Calibri" pitchFamily="34" charset="-120"/>
              </a:rPr>
              <a:t>Managed certificate issuance and renewal handled automatically by Front Door.</a:t>
            </a:r>
            <a:endParaRPr lang="en-US" sz="1150" dirty="0"/>
          </a:p>
        </p:txBody>
      </p:sp>
      <p:sp>
        <p:nvSpPr>
          <p:cNvPr id="14" name="Shape 12"/>
          <p:cNvSpPr/>
          <p:nvPr/>
        </p:nvSpPr>
        <p:spPr>
          <a:xfrm>
            <a:off x="1737360" y="4114800"/>
            <a:ext cx="2377440" cy="640080"/>
          </a:xfrm>
          <a:prstGeom prst="roundRect">
            <a:avLst>
              <a:gd name="adj" fmla="val 14286"/>
            </a:avLst>
          </a:prstGeom>
          <a:solidFill>
            <a:srgbClr val="26317A"/>
          </a:solidFill>
          <a:ln/>
        </p:spPr>
      </p:sp>
      <p:sp>
        <p:nvSpPr>
          <p:cNvPr id="15" name="Text 13"/>
          <p:cNvSpPr txBox="1"/>
          <p:nvPr/>
        </p:nvSpPr>
        <p:spPr>
          <a:xfrm>
            <a:off x="1737360" y="4114800"/>
            <a:ext cx="23774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16" name="Shape 14"/>
          <p:cNvSpPr/>
          <p:nvPr/>
        </p:nvSpPr>
        <p:spPr>
          <a:xfrm>
            <a:off x="4251960" y="4315968"/>
            <a:ext cx="548640" cy="237744"/>
          </a:xfrm>
          <a:prstGeom prst="rightArrow">
            <a:avLst/>
          </a:prstGeom>
          <a:solidFill>
            <a:srgbClr val="1E2761"/>
          </a:solidFill>
          <a:ln/>
        </p:spPr>
      </p:sp>
      <p:sp>
        <p:nvSpPr>
          <p:cNvPr id="17" name="Shape 15"/>
          <p:cNvSpPr/>
          <p:nvPr/>
        </p:nvSpPr>
        <p:spPr>
          <a:xfrm>
            <a:off x="4937760" y="4114800"/>
            <a:ext cx="2377440" cy="640080"/>
          </a:xfrm>
          <a:prstGeom prst="roundRect">
            <a:avLst>
              <a:gd name="adj" fmla="val 14286"/>
            </a:avLst>
          </a:prstGeom>
          <a:solidFill>
            <a:srgbClr val="1E2761"/>
          </a:solidFill>
          <a:ln/>
        </p:spPr>
      </p:sp>
      <p:sp>
        <p:nvSpPr>
          <p:cNvPr id="18" name="Text 16"/>
          <p:cNvSpPr txBox="1"/>
          <p:nvPr/>
        </p:nvSpPr>
        <p:spPr>
          <a:xfrm>
            <a:off x="4937760" y="4114800"/>
            <a:ext cx="23774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Front Door</a:t>
            </a:r>
            <a:endParaRPr lang="en-US" sz="1300" dirty="0"/>
          </a:p>
        </p:txBody>
      </p:sp>
      <p:sp>
        <p:nvSpPr>
          <p:cNvPr id="19" name="Shape 17"/>
          <p:cNvSpPr/>
          <p:nvPr/>
        </p:nvSpPr>
        <p:spPr>
          <a:xfrm>
            <a:off x="7452360" y="4315968"/>
            <a:ext cx="548640" cy="237744"/>
          </a:xfrm>
          <a:prstGeom prst="rightArrow">
            <a:avLst/>
          </a:prstGeom>
          <a:solidFill>
            <a:srgbClr val="1E2761"/>
          </a:solidFill>
          <a:ln/>
        </p:spPr>
      </p:sp>
      <p:sp>
        <p:nvSpPr>
          <p:cNvPr id="20" name="Shape 18"/>
          <p:cNvSpPr/>
          <p:nvPr/>
        </p:nvSpPr>
        <p:spPr>
          <a:xfrm>
            <a:off x="8138160" y="4114800"/>
            <a:ext cx="2377440" cy="640080"/>
          </a:xfrm>
          <a:prstGeom prst="roundRect">
            <a:avLst>
              <a:gd name="adj" fmla="val 14286"/>
            </a:avLst>
          </a:prstGeom>
          <a:solidFill>
            <a:srgbClr val="26317A"/>
          </a:solidFill>
          <a:ln/>
        </p:spPr>
      </p:sp>
      <p:sp>
        <p:nvSpPr>
          <p:cNvPr id="21" name="Text 19"/>
          <p:cNvSpPr txBox="1"/>
          <p:nvPr/>
        </p:nvSpPr>
        <p:spPr>
          <a:xfrm>
            <a:off x="8138160" y="4114800"/>
            <a:ext cx="23774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Storage ($web)</a:t>
            </a:r>
            <a:endParaRPr lang="en-US" sz="1300" dirty="0"/>
          </a:p>
        </p:txBody>
      </p:sp>
      <p:sp>
        <p:nvSpPr>
          <p:cNvPr id="22" name="Text 20"/>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23" name="Text 21"/>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Custom Domain &amp; HTTPS</a:t>
            </a:r>
            <a:endParaRPr lang="en-US" sz="3000" dirty="0"/>
          </a:p>
        </p:txBody>
      </p:sp>
      <p:sp>
        <p:nvSpPr>
          <p:cNvPr id="3" name="Shape 1"/>
          <p:cNvSpPr/>
          <p:nvPr/>
        </p:nvSpPr>
        <p:spPr>
          <a:xfrm>
            <a:off x="566928" y="960120"/>
            <a:ext cx="548640" cy="45720"/>
          </a:xfrm>
          <a:prstGeom prst="rect">
            <a:avLst/>
          </a:prstGeom>
          <a:solidFill>
            <a:srgbClr val="1E2761"/>
          </a:solidFill>
          <a:ln/>
        </p:spPr>
      </p:sp>
      <p:sp>
        <p:nvSpPr>
          <p:cNvPr id="4" name="Text 2"/>
          <p:cNvSpPr txBox="1"/>
          <p:nvPr/>
        </p:nvSpPr>
        <p:spPr>
          <a:xfrm>
            <a:off x="548640" y="1234440"/>
            <a:ext cx="103327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Purpose: </a:t>
            </a:r>
            <a:pPr indent="0" marL="0">
              <a:buNone/>
            </a:pPr>
            <a:r>
              <a:rPr lang="en-US" sz="1400" dirty="0">
                <a:solidFill>
                  <a:srgbClr val="1E2761"/>
                </a:solidFill>
                <a:latin typeface="Calibri" pitchFamily="34" charset="0"/>
                <a:ea typeface="Calibri" pitchFamily="34" charset="-122"/>
                <a:cs typeface="Calibri" pitchFamily="34" charset="-120"/>
              </a:rPr>
              <a:t>Serve the website under a branded domain with a valid, auto-renewed TLS certificate.</a:t>
            </a:r>
            <a:endParaRPr lang="en-US" sz="1400" dirty="0"/>
          </a:p>
        </p:txBody>
      </p:sp>
      <p:sp>
        <p:nvSpPr>
          <p:cNvPr id="5" name="Shape 3"/>
          <p:cNvSpPr/>
          <p:nvPr/>
        </p:nvSpPr>
        <p:spPr>
          <a:xfrm>
            <a:off x="548640" y="2011680"/>
            <a:ext cx="2468880" cy="2377440"/>
          </a:xfrm>
          <a:prstGeom prst="roundRect">
            <a:avLst>
              <a:gd name="adj" fmla="val 3846"/>
            </a:avLst>
          </a:prstGeom>
          <a:solidFill>
            <a:srgbClr val="F4F6FC"/>
          </a:solidFill>
          <a:ln/>
        </p:spPr>
      </p:sp>
      <p:sp>
        <p:nvSpPr>
          <p:cNvPr id="6" name="Shape 4"/>
          <p:cNvSpPr/>
          <p:nvPr/>
        </p:nvSpPr>
        <p:spPr>
          <a:xfrm>
            <a:off x="777240" y="2240280"/>
            <a:ext cx="457200" cy="457200"/>
          </a:xfrm>
          <a:prstGeom prst="ellipse">
            <a:avLst/>
          </a:prstGeom>
          <a:solidFill>
            <a:srgbClr val="1E2761"/>
          </a:solidFill>
          <a:ln/>
        </p:spPr>
      </p:sp>
      <p:sp>
        <p:nvSpPr>
          <p:cNvPr id="7" name="Text 5"/>
          <p:cNvSpPr txBox="1"/>
          <p:nvPr/>
        </p:nvSpPr>
        <p:spPr>
          <a:xfrm>
            <a:off x="77724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731520" y="2880360"/>
            <a:ext cx="21031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DNS Mapping</a:t>
            </a:r>
            <a:endParaRPr lang="en-US" sz="1300" dirty="0"/>
          </a:p>
        </p:txBody>
      </p:sp>
      <p:sp>
        <p:nvSpPr>
          <p:cNvPr id="9" name="Text 7"/>
          <p:cNvSpPr txBox="1"/>
          <p:nvPr/>
        </p:nvSpPr>
        <p:spPr>
          <a:xfrm>
            <a:off x="731520" y="3337560"/>
            <a:ext cx="2103120" cy="914400"/>
          </a:xfrm>
          <a:prstGeom prst="rect">
            <a:avLst/>
          </a:prstGeom>
          <a:noFill/>
          <a:ln/>
        </p:spPr>
        <p:txBody>
          <a:bodyPr wrap="square" lIns="0" tIns="0" rIns="0" bIns="0" rtlCol="0" anchor="t"/>
          <a:lstStyle/>
          <a:p>
            <a:pPr indent="0" marL="0">
              <a:buNone/>
            </a:pPr>
            <a:r>
              <a:rPr lang="en-US" sz="1050" dirty="0">
                <a:solidFill>
                  <a:srgbClr val="1E2761"/>
                </a:solidFill>
                <a:latin typeface="Calibri" pitchFamily="34" charset="0"/>
                <a:ea typeface="Calibri" pitchFamily="34" charset="-122"/>
                <a:cs typeface="Calibri" pitchFamily="34" charset="-120"/>
              </a:rPr>
              <a:t>Custom domain's CNAME / ALIAS record points to the Front Door endpoint.</a:t>
            </a:r>
            <a:endParaRPr lang="en-US" sz="1050" dirty="0"/>
          </a:p>
        </p:txBody>
      </p:sp>
      <p:sp>
        <p:nvSpPr>
          <p:cNvPr id="10" name="Shape 8"/>
          <p:cNvSpPr/>
          <p:nvPr/>
        </p:nvSpPr>
        <p:spPr>
          <a:xfrm>
            <a:off x="3291840" y="2011680"/>
            <a:ext cx="2468880" cy="2377440"/>
          </a:xfrm>
          <a:prstGeom prst="roundRect">
            <a:avLst>
              <a:gd name="adj" fmla="val 3846"/>
            </a:avLst>
          </a:prstGeom>
          <a:solidFill>
            <a:srgbClr val="F4F6FC"/>
          </a:solidFill>
          <a:ln/>
        </p:spPr>
      </p:sp>
      <p:sp>
        <p:nvSpPr>
          <p:cNvPr id="11" name="Shape 9"/>
          <p:cNvSpPr/>
          <p:nvPr/>
        </p:nvSpPr>
        <p:spPr>
          <a:xfrm>
            <a:off x="3520440" y="2240280"/>
            <a:ext cx="457200" cy="457200"/>
          </a:xfrm>
          <a:prstGeom prst="ellipse">
            <a:avLst/>
          </a:prstGeom>
          <a:solidFill>
            <a:srgbClr val="1E2761"/>
          </a:solidFill>
          <a:ln/>
        </p:spPr>
      </p:sp>
      <p:sp>
        <p:nvSpPr>
          <p:cNvPr id="12" name="Text 10"/>
          <p:cNvSpPr txBox="1"/>
          <p:nvPr/>
        </p:nvSpPr>
        <p:spPr>
          <a:xfrm>
            <a:off x="352044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3474720" y="2880360"/>
            <a:ext cx="21031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Domain Validation</a:t>
            </a:r>
            <a:endParaRPr lang="en-US" sz="1300" dirty="0"/>
          </a:p>
        </p:txBody>
      </p:sp>
      <p:sp>
        <p:nvSpPr>
          <p:cNvPr id="14" name="Text 12"/>
          <p:cNvSpPr txBox="1"/>
          <p:nvPr/>
        </p:nvSpPr>
        <p:spPr>
          <a:xfrm>
            <a:off x="3474720" y="3337560"/>
            <a:ext cx="2103120" cy="914400"/>
          </a:xfrm>
          <a:prstGeom prst="rect">
            <a:avLst/>
          </a:prstGeom>
          <a:noFill/>
          <a:ln/>
        </p:spPr>
        <p:txBody>
          <a:bodyPr wrap="square" lIns="0" tIns="0" rIns="0" bIns="0" rtlCol="0" anchor="t"/>
          <a:lstStyle/>
          <a:p>
            <a:pPr indent="0" marL="0">
              <a:buNone/>
            </a:pPr>
            <a:r>
              <a:rPr lang="en-US" sz="1050" dirty="0">
                <a:solidFill>
                  <a:srgbClr val="1E2761"/>
                </a:solidFill>
                <a:latin typeface="Calibri" pitchFamily="34" charset="0"/>
                <a:ea typeface="Calibri" pitchFamily="34" charset="-122"/>
                <a:cs typeface="Calibri" pitchFamily="34" charset="-120"/>
              </a:rPr>
              <a:t>Ownership verified automatically via a DNS TXT record.</a:t>
            </a:r>
            <a:endParaRPr lang="en-US" sz="1050" dirty="0"/>
          </a:p>
        </p:txBody>
      </p:sp>
      <p:sp>
        <p:nvSpPr>
          <p:cNvPr id="15" name="Shape 13"/>
          <p:cNvSpPr/>
          <p:nvPr/>
        </p:nvSpPr>
        <p:spPr>
          <a:xfrm>
            <a:off x="6035040" y="2011680"/>
            <a:ext cx="2468880" cy="2377440"/>
          </a:xfrm>
          <a:prstGeom prst="roundRect">
            <a:avLst>
              <a:gd name="adj" fmla="val 3846"/>
            </a:avLst>
          </a:prstGeom>
          <a:solidFill>
            <a:srgbClr val="F4F6FC"/>
          </a:solidFill>
          <a:ln/>
        </p:spPr>
      </p:sp>
      <p:sp>
        <p:nvSpPr>
          <p:cNvPr id="16" name="Shape 14"/>
          <p:cNvSpPr/>
          <p:nvPr/>
        </p:nvSpPr>
        <p:spPr>
          <a:xfrm>
            <a:off x="6263640" y="2240280"/>
            <a:ext cx="457200" cy="457200"/>
          </a:xfrm>
          <a:prstGeom prst="ellipse">
            <a:avLst/>
          </a:prstGeom>
          <a:solidFill>
            <a:srgbClr val="1E2761"/>
          </a:solidFill>
          <a:ln/>
        </p:spPr>
      </p:sp>
      <p:sp>
        <p:nvSpPr>
          <p:cNvPr id="17" name="Text 15"/>
          <p:cNvSpPr txBox="1"/>
          <p:nvPr/>
        </p:nvSpPr>
        <p:spPr>
          <a:xfrm>
            <a:off x="626364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6217920" y="2880360"/>
            <a:ext cx="21031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Managed Certificate</a:t>
            </a:r>
            <a:endParaRPr lang="en-US" sz="1300" dirty="0"/>
          </a:p>
        </p:txBody>
      </p:sp>
      <p:sp>
        <p:nvSpPr>
          <p:cNvPr id="19" name="Text 17"/>
          <p:cNvSpPr txBox="1"/>
          <p:nvPr/>
        </p:nvSpPr>
        <p:spPr>
          <a:xfrm>
            <a:off x="6217920" y="3337560"/>
            <a:ext cx="2103120" cy="914400"/>
          </a:xfrm>
          <a:prstGeom prst="rect">
            <a:avLst/>
          </a:prstGeom>
          <a:noFill/>
          <a:ln/>
        </p:spPr>
        <p:txBody>
          <a:bodyPr wrap="square" lIns="0" tIns="0" rIns="0" bIns="0" rtlCol="0" anchor="t"/>
          <a:lstStyle/>
          <a:p>
            <a:pPr indent="0" marL="0">
              <a:buNone/>
            </a:pPr>
            <a:r>
              <a:rPr lang="en-US" sz="1050" dirty="0">
                <a:solidFill>
                  <a:srgbClr val="1E2761"/>
                </a:solidFill>
                <a:latin typeface="Calibri" pitchFamily="34" charset="0"/>
                <a:ea typeface="Calibri" pitchFamily="34" charset="-122"/>
                <a:cs typeface="Calibri" pitchFamily="34" charset="-120"/>
              </a:rPr>
              <a:t>Front Door provisions and renews the TLS certificate — no manual steps.</a:t>
            </a:r>
            <a:endParaRPr lang="en-US" sz="1050" dirty="0"/>
          </a:p>
        </p:txBody>
      </p:sp>
      <p:sp>
        <p:nvSpPr>
          <p:cNvPr id="20" name="Shape 18"/>
          <p:cNvSpPr/>
          <p:nvPr/>
        </p:nvSpPr>
        <p:spPr>
          <a:xfrm>
            <a:off x="8778240" y="2011680"/>
            <a:ext cx="2468880" cy="2377440"/>
          </a:xfrm>
          <a:prstGeom prst="roundRect">
            <a:avLst>
              <a:gd name="adj" fmla="val 3846"/>
            </a:avLst>
          </a:prstGeom>
          <a:solidFill>
            <a:srgbClr val="F4F6FC"/>
          </a:solidFill>
          <a:ln/>
        </p:spPr>
      </p:sp>
      <p:sp>
        <p:nvSpPr>
          <p:cNvPr id="21" name="Shape 19"/>
          <p:cNvSpPr/>
          <p:nvPr/>
        </p:nvSpPr>
        <p:spPr>
          <a:xfrm>
            <a:off x="9006840" y="2240280"/>
            <a:ext cx="457200" cy="457200"/>
          </a:xfrm>
          <a:prstGeom prst="ellipse">
            <a:avLst/>
          </a:prstGeom>
          <a:solidFill>
            <a:srgbClr val="1E2761"/>
          </a:solidFill>
          <a:ln/>
        </p:spPr>
      </p:sp>
      <p:sp>
        <p:nvSpPr>
          <p:cNvPr id="22" name="Text 20"/>
          <p:cNvSpPr txBox="1"/>
          <p:nvPr/>
        </p:nvSpPr>
        <p:spPr>
          <a:xfrm>
            <a:off x="900684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8961120" y="2880360"/>
            <a:ext cx="21031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Traffic Routing</a:t>
            </a:r>
            <a:endParaRPr lang="en-US" sz="1300" dirty="0"/>
          </a:p>
        </p:txBody>
      </p:sp>
      <p:sp>
        <p:nvSpPr>
          <p:cNvPr id="24" name="Text 22"/>
          <p:cNvSpPr txBox="1"/>
          <p:nvPr/>
        </p:nvSpPr>
        <p:spPr>
          <a:xfrm>
            <a:off x="8961120" y="3337560"/>
            <a:ext cx="2103120" cy="914400"/>
          </a:xfrm>
          <a:prstGeom prst="rect">
            <a:avLst/>
          </a:prstGeom>
          <a:noFill/>
          <a:ln/>
        </p:spPr>
        <p:txBody>
          <a:bodyPr wrap="square" lIns="0" tIns="0" rIns="0" bIns="0" rtlCol="0" anchor="t"/>
          <a:lstStyle/>
          <a:p>
            <a:pPr indent="0" marL="0">
              <a:buNone/>
            </a:pPr>
            <a:r>
              <a:rPr lang="en-US" sz="1050" dirty="0">
                <a:solidFill>
                  <a:srgbClr val="1E2761"/>
                </a:solidFill>
                <a:latin typeface="Calibri" pitchFamily="34" charset="0"/>
                <a:ea typeface="Calibri" pitchFamily="34" charset="-122"/>
                <a:cs typeface="Calibri" pitchFamily="34" charset="-120"/>
              </a:rPr>
              <a:t>Validated HTTPS requests are routed to the Storage static website origin.</a:t>
            </a:r>
            <a:endParaRPr lang="en-US" sz="1050" dirty="0"/>
          </a:p>
        </p:txBody>
      </p:sp>
      <p:sp>
        <p:nvSpPr>
          <p:cNvPr id="25" name="Text 23"/>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C6B8A"/>
                </a:solidFill>
                <a:latin typeface="Calibri" pitchFamily="34" charset="0"/>
                <a:ea typeface="Calibri" pitchFamily="34" charset="-122"/>
                <a:cs typeface="Calibri" pitchFamily="34" charset="-120"/>
              </a:rPr>
              <a:t>Azure Static Website Hosting with Front Door — Review 1</a:t>
            </a:r>
            <a:endParaRPr lang="en-US" sz="900" dirty="0"/>
          </a:p>
        </p:txBody>
      </p:sp>
      <p:sp>
        <p:nvSpPr>
          <p:cNvPr id="26" name="Text 24"/>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2026-09-26T13:46:07Z</dcterms:created>
  <dcterms:modified xsi:type="dcterms:W3CDTF">2026-09-26T13:46:07Z</dcterms:modified>
</cp:coreProperties>
</file>